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9892cf91-bcf4-cb4d-ad97-af47f654efe4}">
          <p14:sldIdLst>
            <p14:sldId id="256"/>
          </p14:sldIdLst>
        </p14:section>
        <p14:section name="Contexto" id="{9baa03ba-9449-ee77-624f-d484483d429a}">
          <p14:sldIdLst>
            <p14:sldId id="257"/>
            <p14:sldId id="258"/>
          </p14:sldIdLst>
        </p14:section>
        <p14:section name="Base de datos" id="{32192eba-2727-7f12-b920-3480fdefed74}">
          <p14:sldIdLst>
            <p14:sldId id="259"/>
            <p14:sldId id="260"/>
          </p14:sldIdLst>
        </p14:section>
        <p14:section name="Código" id="{d66242b4-8dc4-137f-50c5-d87256f7ce03}">
          <p14:sldIdLst>
            <p14:sldId id="261"/>
            <p14:sldId id="262"/>
          </p14:sldIdLst>
        </p14:section>
        <p14:section name="Aplicación" id="{d5f90d88-99bb-96f3-5702-eb12c1969991}">
          <p14:sldIdLst>
            <p14:sldId id="263"/>
            <p14:sldId id="264"/>
            <p14:sldId id="265"/>
          </p14:sldIdLst>
        </p14:section>
        <p14:section name="Seguridad" id="{bed88138-d3a9-fdff-6075-911d91a28b9a}">
          <p14:sldIdLst>
            <p14:sldId id="266"/>
          </p14:sldIdLst>
        </p14:section>
        <p14:section name="Pruebas" id="{811b019d-8ea8-a9ac-1ece-5660fd911215}">
          <p14:sldIdLst>
            <p14:sldId id="267"/>
          </p14:sldIdLst>
        </p14:section>
        <p14:section name="Uso de IA" id="{1c9a50c5-51ea-8293-aeeb-4cf887f489c7}">
          <p14:sldIdLst>
            <p14:sldId id="268"/>
          </p14:sldIdLst>
        </p14:section>
        <p14:section name="Cierre" id="{22141815-37d2-42db-1775-6d2543cf83c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3B3542"/>
                </a:solidFill>
                <a:latin typeface="+mn-lt"/>
              </a:defRPr>
            </a:pPr>
            <a:r>
              <a:rPr sz="1500" b="0" i="0" u="none" strike="noStrike">
                <a:solidFill>
                  <a:srgbClr val="3B3542"/>
                </a:solidFill>
                <a:latin typeface="+mn-lt"/>
              </a:rPr>
              <a:t>Comprobaciones por grupo</a:t>
            </a:r>
          </a:p>
        </c:rich>
      </c:tx>
      <c:layout/>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4C7A69"/>
            </a:solidFill>
            <a:effectLst/>
          </c:spPr>
          <c:invertIfNegative val="0"/>
          <c:dLbls>
            <c:numFmt formatCode="#,##0" sourceLinked="0"/>
            <c:txPr>
              <a:bodyPr/>
              <a:lstStyle/>
              <a:p>
                <a:pPr>
                  <a:defRPr b="0" i="0" strike="noStrike" sz="1300" u="none">
                    <a:solidFill>
                      <a:srgbClr val="2D2A32"/>
                    </a:solidFill>
                    <a:latin typeface="+mn-lt"/>
                  </a:defRPr>
                </a:pPr>
              </a:p>
            </c:txPr>
            <c:showLegendKey val="0"/>
            <c:showVal val="1"/>
            <c:showCatName val="0"/>
            <c:showSerName val="0"/>
            <c:showPercent val="0"/>
            <c:showBubbleSize val="0"/>
            <c:showLeaderLines val="0"/>
          </c:dLbls>
          <c:cat>
            <c:multiLvlStrRef>
              <c:f>Sheet1!$A$2:$A$8</c:f>
              <c:multiLvlStrCache>
                <c:ptCount val="7"/>
                <c:lvl>
                  <c:pt idx="0">
                    <c:v>Aplicación web</c:v>
                  </c:pt>
                  <c:pt idx="1">
                    <c:v>Modelo y repositorios</c:v>
                  </c:pt>
                  <c:pt idx="2">
                    <c:v>Inyección (repositorios)</c:v>
                  </c:pt>
                  <c:pt idx="3">
                    <c:v>CRUD de socios</c:v>
                  </c:pt>
                  <c:pt idx="4">
                    <c:v>Base de datos</c:v>
                  </c:pt>
                  <c:pt idx="5">
                    <c:v>Inyección (web)</c:v>
                  </c:pt>
                  <c:pt idx="6">
                    <c:v>Configuración y errores</c:v>
                  </c:pt>
                </c:lvl>
              </c:multiLvlStrCache>
            </c:multiLvlStrRef>
          </c:cat>
          <c:val>
            <c:numRef>
              <c:f>Sheet1!$B$2:$B$8</c:f>
              <c:numCache>
                <c:formatCode>General</c:formatCode>
                <c:ptCount val="7"/>
                <c:pt idx="0">
                  <c:v>17</c:v>
                </c:pt>
                <c:pt idx="1">
                  <c:v>15</c:v>
                </c:pt>
                <c:pt idx="2">
                  <c:v>7</c:v>
                </c:pt>
                <c:pt idx="3">
                  <c:v>6</c:v>
                </c:pt>
                <c:pt idx="4">
                  <c:v>5</c:v>
                </c:pt>
                <c:pt idx="5">
                  <c:v>5</c:v>
                </c:pt>
                <c:pt idx="6">
                  <c:v>2</c:v>
                </c:pt>
              </c:numCache>
            </c:numRef>
          </c:val>
        </c:ser>
        <c:dLbls>
          <c:numFmt formatCode="#,##0" sourceLinked="0"/>
          <c:txPr>
            <a:bodyPr/>
            <a:lstStyle/>
            <a:p>
              <a:pPr>
                <a:defRPr b="0" i="0" strike="noStrike" sz="1300" u="none">
                  <a:solidFill>
                    <a:srgbClr val="2D2A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D2A3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la segunda actividad del proyecto Manos del Oriente: la migración del catálogo de archivos JSON a una base de datos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JSON sirvió para empezar, pero no garantiza integridad ni soporta bien varias personas guardando a la vez. Por eso migramos a MySQL manteniendo todas las funciones de la actividad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lo que está a la derecha figura como tarea en el Backlog de nuestro tablero de GitHub Projects. Lo que dejamos fuera no es lo que el sistema no podría hacer, sino lo que no comprometimos en esta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cambio más importante del modelo fue convertir al socio en una tabla propia. Las tallas van en una tabla intermedia porque una prenda tiene varias tallas y una talla aplica a varias prendas.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PHP valida los datos, también declaramos las reglas en MySQL. Así se cumplen aunque alguien inserte datos por otra 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de conexión nunca se suben al repositorio ni se pueden pedir por URL. Desactivamos la emulación de consultas preparadas para que la separación entre código y datos ocurra en el propio servidor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en la Actividad 1 toda la persistencia estaba en una sola clase, solo tuvimos que reemplazarla por dos repositorios. Las páginas casi no cambiaron.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visitante nada cambió: la tienda pagina de ocho en ocho y la gestión muestra el resumen del inventario, que ahora calcula MySQL y coincide con nuestro cálculo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socio ahora tiene su propio CRUD. No se puede eliminar un socio que tiene prendas: lo impide la interfaz y también la clave foránea con RESTRICT.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Rediseñamos la interfaz con una paleta pastel de tienda de ropa. El detalle, el registro y la edición se abren en modales; eliminar pide confirmación y el resultado aparece como aviso en la esquina. Una prueba en el navegador encontró un error de sesión que hacía fallar el token CSRF al eliminar, y lo corregimos.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trece ataques automáticos. Ninguno devolvió datos de más ni borró tablas. Además, una prueba revisa el código y falla si alguien concatena una variable dentro de un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crean su propia base de datos y la borran al terminar, así nunca tocan los datos reales. Las ejecutamos en Windows y en el Docker del curso, con el mismo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lección principal: una prueba que falla puede estar mal escrita. Antes de cambiar el código hay que entender la causa. Ninguno de estos cinco errores estaba en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Actividad 2 con la aplicación migrada, segura y probada. Las siguientes actividades ya están en el Backlog del tablero.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965960"/>
            <a:ext cx="768096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108960"/>
            <a:ext cx="768096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Manos del Oriente · Actividad 2: de JSON a MySQL</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tiqueta"/>
          <p:cNvSpPr txBox="1"/>
          <p:nvPr/>
        </p:nvSpPr>
        <p:spPr>
          <a:xfrm>
            <a:off x="822960" y="1417320"/>
            <a:ext cx="7680960" cy="457200"/>
          </a:xfrm>
          <a:prstGeom prst="rect">
            <a:avLst/>
          </a:prstGeom>
          <a:noFill/>
          <a:ln/>
        </p:spPr>
        <p:txBody>
          <a:bodyPr wrap="square" lIns="0" tIns="0" rIns="0" bIns="0" rtlCol="0" anchor="ctr"/>
          <a:lstStyle/>
          <a:p>
            <a:pPr indent="0" marL="0">
              <a:buNone/>
            </a:pPr>
            <a:r>
              <a:rPr lang="en-US" sz="1600" b="1" spc="200" kern="0" dirty="0">
                <a:solidFill>
                  <a:schemeClr val="bg2"/>
                </a:solidFill>
              </a:rPr>
              <a:t>ACTIVIDAD 2 · TECNOLOGÍA WEB II</a:t>
            </a:r>
            <a:endParaRPr lang="en-US" sz="1600" dirty="0"/>
          </a:p>
        </p:txBody>
      </p:sp>
      <p:sp>
        <p:nvSpPr>
          <p:cNvPr id="3" name="Text 0"/>
          <p:cNvSpPr/>
          <p:nvPr>
            <p:ph idx="100" type="title" hasCustomPrompt="1"/>
          </p:nvPr>
        </p:nvSpPr>
        <p:spPr>
          <a:xfrm>
            <a:off x="822960" y="1965960"/>
            <a:ext cx="7680960" cy="1005840"/>
          </a:xfrm>
          <a:prstGeom prst="rect">
            <a:avLst/>
          </a:prstGeom>
          <a:noFill/>
          <a:ln/>
        </p:spPr>
        <p:txBody>
          <a:bodyPr wrap="square" lIns="0" tIns="0" rIns="0" bIns="0" rtlCol="0" anchor="t"/>
          <a:lstStyle/>
          <a:p>
            <a:pPr algn="l" indent="0" marL="0">
              <a:buNone/>
            </a:pPr>
            <a:r>
              <a:rPr lang="en-US" sz="4400" b="1" dirty="0">
                <a:solidFill>
                  <a:schemeClr val="bg1"/>
                </a:solidFill>
              </a:rPr>
              <a:t>De JSON a MySQL</a:t>
            </a:r>
            <a:endParaRPr lang="en-US" sz="4400" dirty="0"/>
          </a:p>
        </p:txBody>
      </p:sp>
      <p:sp>
        <p:nvSpPr>
          <p:cNvPr id="4" name="Text 0"/>
          <p:cNvSpPr/>
          <p:nvPr>
            <p:ph idx="101" type="body" hasCustomPrompt="1"/>
          </p:nvPr>
        </p:nvSpPr>
        <p:spPr>
          <a:xfrm>
            <a:off x="822960" y="3108960"/>
            <a:ext cx="7680960" cy="1188720"/>
          </a:xfrm>
          <a:prstGeom prst="rect">
            <a:avLst/>
          </a:prstGeom>
          <a:noFill/>
          <a:ln/>
        </p:spPr>
        <p:txBody>
          <a:bodyPr wrap="square" lIns="0" tIns="0" rIns="0" bIns="0" rtlCol="0" anchor="t"/>
          <a:lstStyle/>
          <a:p>
            <a:pPr algn="l" indent="0" marL="0">
              <a:buNone/>
            </a:pPr>
            <a:r>
              <a:rPr lang="en-US" sz="2000" dirty="0">
                <a:solidFill>
                  <a:schemeClr val="bg2"/>
                </a:solidFill>
              </a:rPr>
              <a:t>Tienda virtual «Manos del Oriente»: PDO, repositorios, CRUD, paginación, resistencia a la inyección SQL e interfaz con Bootstrap 5</a:t>
            </a:r>
            <a:endParaRPr lang="en-US" sz="2000" dirty="0"/>
          </a:p>
        </p:txBody>
      </p:sp>
      <p:sp>
        <p:nvSpPr>
          <p:cNvPr id="5" name="Marco del logo"/>
          <p:cNvSpPr/>
          <p:nvPr/>
        </p:nvSpPr>
        <p:spPr>
          <a:xfrm>
            <a:off x="8915400" y="1417320"/>
            <a:ext cx="2514600" cy="2514600"/>
          </a:xfrm>
          <a:prstGeom prst="roundRect">
            <a:avLst>
              <a:gd name="adj" fmla="val 7273"/>
            </a:avLst>
          </a:prstGeom>
          <a:solidFill>
            <a:schemeClr val="bg1"/>
          </a:solidFill>
          <a:ln/>
        </p:spPr>
      </p:sp>
      <p:pic>
        <p:nvPicPr>
          <p:cNvPr id="6" name="Logo UPDS" descr="Logo de la Universidad Privada Domingo Savio">    </p:cNvPr>
          <p:cNvPicPr>
            <a:picLocks noChangeAspect="1"/>
          </p:cNvPicPr>
          <p:nvPr/>
        </p:nvPicPr>
        <p:blipFill>
          <a:blip r:embed="rId1"/>
          <a:stretch>
            <a:fillRect/>
          </a:stretch>
        </p:blipFill>
        <p:spPr>
          <a:xfrm>
            <a:off x="9098280" y="1600200"/>
            <a:ext cx="2148840" cy="2148840"/>
          </a:xfrm>
          <a:prstGeom prst="rect">
            <a:avLst/>
          </a:prstGeom>
        </p:spPr>
      </p:pic>
      <p:sp>
        <p:nvSpPr>
          <p:cNvPr id="7" name="Pie de portada"/>
          <p:cNvSpPr txBox="1"/>
          <p:nvPr/>
        </p:nvSpPr>
        <p:spPr>
          <a:xfrm>
            <a:off x="822960" y="5394960"/>
            <a:ext cx="10515600" cy="822960"/>
          </a:xfrm>
          <a:prstGeom prst="rect">
            <a:avLst/>
          </a:prstGeom>
          <a:noFill/>
          <a:ln/>
        </p:spPr>
        <p:txBody>
          <a:bodyPr wrap="square" lIns="0" tIns="0" rIns="0" bIns="0" rtlCol="0" anchor="t"/>
          <a:lstStyle/>
          <a:p>
            <a:pPr indent="0" marL="0">
              <a:buNone/>
            </a:pPr>
            <a:r>
              <a:rPr lang="en-US" sz="1400" dirty="0">
                <a:solidFill>
                  <a:schemeClr val="bg2"/>
                </a:solidFill>
              </a:rPr>
              <a:t>Integrantes: Daniela Cayo Mamani · Juan Jose Vicente Cossio · Ronald Salvatierra Flores · Yordy Tolavi Ruiz · Alejandro Cadario Lopez</a:t>
            </a:r>
            <a:endParaRPr lang="en-US" sz="1400" dirty="0"/>
          </a:p>
          <a:p>
            <a:pPr indent="0" marL="0">
              <a:buNone/>
            </a:pPr>
            <a:r>
              <a:rPr lang="en-US" sz="1400" dirty="0">
                <a:solidFill>
                  <a:schemeClr val="bg2"/>
                </a:solidFill>
              </a:rPr>
              <a:t>Universidad Privada Domingo Savio · Docente: M.Sc. Ing. Jimmy Nataniel Requena Llorentty · 14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Por qué dejamos los archivos JSON</a:t>
            </a:r>
            <a:endParaRPr lang="en-US" sz="3000" dirty="0"/>
          </a:p>
        </p:txBody>
      </p:sp>
      <p:sp>
        <p:nvSpPr>
          <p:cNvPr id="3" name="Motivo 1 (fondo)"/>
          <p:cNvSpPr/>
          <p:nvPr/>
        </p:nvSpPr>
        <p:spPr>
          <a:xfrm>
            <a:off x="548640" y="1463040"/>
            <a:ext cx="3520440" cy="2514600"/>
          </a:xfrm>
          <a:prstGeom prst="roundRect">
            <a:avLst>
              <a:gd name="adj" fmla="val 4364"/>
            </a:avLst>
          </a:prstGeom>
          <a:solidFill>
            <a:schemeClr val="bg2"/>
          </a:solidFill>
          <a:ln/>
        </p:spPr>
      </p:sp>
      <p:sp>
        <p:nvSpPr>
          <p:cNvPr id="4" name="Motivo 1 (título)"/>
          <p:cNvSpPr txBox="1"/>
          <p:nvPr/>
        </p:nvSpPr>
        <p:spPr>
          <a:xfrm>
            <a:off x="777240" y="1627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Integridad</a:t>
            </a:r>
            <a:endParaRPr lang="en-US" sz="2000" dirty="0"/>
          </a:p>
        </p:txBody>
      </p:sp>
      <p:sp>
        <p:nvSpPr>
          <p:cNvPr id="5" name="Motivo 1 (texto)"/>
          <p:cNvSpPr txBox="1"/>
          <p:nvPr/>
        </p:nvSpPr>
        <p:spPr>
          <a:xfrm>
            <a:off x="777240" y="2103120"/>
            <a:ext cx="3063240" cy="1737360"/>
          </a:xfrm>
          <a:prstGeom prst="rect">
            <a:avLst/>
          </a:prstGeom>
          <a:noFill/>
          <a:ln/>
        </p:spPr>
        <p:txBody>
          <a:bodyPr wrap="square" lIns="0" tIns="0" rIns="0" bIns="0" rtlCol="0" anchor="t"/>
          <a:lstStyle/>
          <a:p>
            <a:pPr indent="0" marL="0">
              <a:buNone/>
            </a:pPr>
            <a:r>
              <a:rPr lang="en-US" sz="1700" dirty="0">
                <a:solidFill>
                  <a:schemeClr val="tx1"/>
                </a:solidFill>
              </a:rPr>
              <a:t>En el JSON, una prenda podía quedar asociada a una socia escrita de tres formas distintas. Nada impedía datos incoherentes.</a:t>
            </a:r>
            <a:endParaRPr lang="en-US" sz="1700" dirty="0"/>
          </a:p>
        </p:txBody>
      </p:sp>
      <p:sp>
        <p:nvSpPr>
          <p:cNvPr id="6" name="Motivo 2 (fondo)"/>
          <p:cNvSpPr/>
          <p:nvPr/>
        </p:nvSpPr>
        <p:spPr>
          <a:xfrm>
            <a:off x="4325112" y="1463040"/>
            <a:ext cx="3520440" cy="2514600"/>
          </a:xfrm>
          <a:prstGeom prst="roundRect">
            <a:avLst>
              <a:gd name="adj" fmla="val 4364"/>
            </a:avLst>
          </a:prstGeom>
          <a:solidFill>
            <a:schemeClr val="bg2"/>
          </a:solidFill>
          <a:ln/>
        </p:spPr>
      </p:sp>
      <p:sp>
        <p:nvSpPr>
          <p:cNvPr id="7" name="Motivo 2 (título)"/>
          <p:cNvSpPr txBox="1"/>
          <p:nvPr/>
        </p:nvSpPr>
        <p:spPr>
          <a:xfrm>
            <a:off x="4553712" y="1627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Concurrencia</a:t>
            </a:r>
            <a:endParaRPr lang="en-US" sz="2000" dirty="0"/>
          </a:p>
        </p:txBody>
      </p:sp>
      <p:sp>
        <p:nvSpPr>
          <p:cNvPr id="8" name="Motivo 2 (texto)"/>
          <p:cNvSpPr txBox="1"/>
          <p:nvPr/>
        </p:nvSpPr>
        <p:spPr>
          <a:xfrm>
            <a:off x="4553712" y="2103120"/>
            <a:ext cx="3063240" cy="1737360"/>
          </a:xfrm>
          <a:prstGeom prst="rect">
            <a:avLst/>
          </a:prstGeom>
          <a:noFill/>
          <a:ln/>
        </p:spPr>
        <p:txBody>
          <a:bodyPr wrap="square" lIns="0" tIns="0" rIns="0" bIns="0" rtlCol="0" anchor="t"/>
          <a:lstStyle/>
          <a:p>
            <a:pPr indent="0" marL="0">
              <a:buNone/>
            </a:pPr>
            <a:r>
              <a:rPr lang="en-US" sz="1700" dirty="0">
                <a:solidFill>
                  <a:schemeClr val="tx1"/>
                </a:solidFill>
              </a:rPr>
              <a:t>Si dos personas guardan a la vez, un archivo se sobrescribe. Una base de datos usa transacciones.</a:t>
            </a:r>
            <a:endParaRPr lang="en-US" sz="1700" dirty="0"/>
          </a:p>
        </p:txBody>
      </p:sp>
      <p:sp>
        <p:nvSpPr>
          <p:cNvPr id="9" name="Motivo 3 (fondo)"/>
          <p:cNvSpPr/>
          <p:nvPr/>
        </p:nvSpPr>
        <p:spPr>
          <a:xfrm>
            <a:off x="8101584" y="1463040"/>
            <a:ext cx="3520440" cy="2514600"/>
          </a:xfrm>
          <a:prstGeom prst="roundRect">
            <a:avLst>
              <a:gd name="adj" fmla="val 4364"/>
            </a:avLst>
          </a:prstGeom>
          <a:solidFill>
            <a:schemeClr val="bg2"/>
          </a:solidFill>
          <a:ln/>
        </p:spPr>
      </p:sp>
      <p:sp>
        <p:nvSpPr>
          <p:cNvPr id="10" name="Motivo 3 (título)"/>
          <p:cNvSpPr txBox="1"/>
          <p:nvPr/>
        </p:nvSpPr>
        <p:spPr>
          <a:xfrm>
            <a:off x="8330184" y="1627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Consultas</a:t>
            </a:r>
            <a:endParaRPr lang="en-US" sz="2000" dirty="0"/>
          </a:p>
        </p:txBody>
      </p:sp>
      <p:sp>
        <p:nvSpPr>
          <p:cNvPr id="11" name="Motivo 3 (texto)"/>
          <p:cNvSpPr txBox="1"/>
          <p:nvPr/>
        </p:nvSpPr>
        <p:spPr>
          <a:xfrm>
            <a:off x="8330184" y="2103120"/>
            <a:ext cx="3063240" cy="1737360"/>
          </a:xfrm>
          <a:prstGeom prst="rect">
            <a:avLst/>
          </a:prstGeom>
          <a:noFill/>
          <a:ln/>
        </p:spPr>
        <p:txBody>
          <a:bodyPr wrap="square" lIns="0" tIns="0" rIns="0" bIns="0" rtlCol="0" anchor="t"/>
          <a:lstStyle/>
          <a:p>
            <a:pPr indent="0" marL="0">
              <a:buNone/>
            </a:pPr>
            <a:r>
              <a:rPr lang="en-US" sz="1700" dirty="0">
                <a:solidFill>
                  <a:schemeClr val="tx1"/>
                </a:solidFill>
              </a:rPr>
              <a:t>Filtrar por talla, contar prendas por socia o paginar exige leer todo el archivo. SQL lo hace en el servidor.</a:t>
            </a:r>
            <a:endParaRPr lang="en-US" sz="1700" dirty="0"/>
          </a:p>
        </p:txBody>
      </p:sp>
      <p:sp>
        <p:nvSpPr>
          <p:cNvPr id="12" name="Objetivo"/>
          <p:cNvSpPr txBox="1"/>
          <p:nvPr/>
        </p:nvSpPr>
        <p:spPr>
          <a:xfrm>
            <a:off x="548640" y="4343400"/>
            <a:ext cx="11094415" cy="822960"/>
          </a:xfrm>
          <a:prstGeom prst="rect">
            <a:avLst/>
          </a:prstGeom>
          <a:noFill/>
          <a:ln/>
        </p:spPr>
        <p:txBody>
          <a:bodyPr wrap="square" lIns="0" tIns="0" rIns="0" bIns="0" rtlCol="0" anchor="ctr"/>
          <a:lstStyle/>
          <a:p>
            <a:pPr indent="0" marL="0">
              <a:buNone/>
            </a:pPr>
            <a:r>
              <a:rPr lang="en-US" sz="2000" b="1" dirty="0">
                <a:solidFill>
                  <a:schemeClr val="tx2"/>
                </a:solidFill>
              </a:rPr>
              <a:t>Objetivo: </a:t>
            </a:r>
            <a:pPr indent="0" marL="0">
              <a:buNone/>
            </a:pPr>
            <a:r>
              <a:rPr lang="en-US" sz="2000" dirty="0">
                <a:solidFill>
                  <a:schemeClr val="tx1"/>
                </a:solidFill>
              </a:rPr>
              <a:t>migrar la aplicación de la Actividad 1 a MySQL sin perder ninguna función y agregar la gestión de socios.</a:t>
            </a:r>
            <a:endParaRPr lang="en-US" sz="2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Qué entregamos y qué queda para después</a:t>
            </a:r>
            <a:endParaRPr lang="en-US" sz="3000" dirty="0"/>
          </a:p>
        </p:txBody>
      </p:sp>
      <p:sp>
        <p:nvSpPr>
          <p:cNvPr id="3" name="Dentro (fondo)"/>
          <p:cNvSpPr/>
          <p:nvPr/>
        </p:nvSpPr>
        <p:spPr>
          <a:xfrm>
            <a:off x="548640" y="1371600"/>
            <a:ext cx="6309360" cy="4206240"/>
          </a:xfrm>
          <a:prstGeom prst="roundRect">
            <a:avLst>
              <a:gd name="adj" fmla="val 2609"/>
            </a:avLst>
          </a:prstGeom>
          <a:solidFill>
            <a:schemeClr val="bg2"/>
          </a:solidFill>
          <a:ln/>
        </p:spPr>
      </p:sp>
      <p:sp>
        <p:nvSpPr>
          <p:cNvPr id="4" name="Dentro (título)"/>
          <p:cNvSpPr txBox="1"/>
          <p:nvPr/>
        </p:nvSpPr>
        <p:spPr>
          <a:xfrm>
            <a:off x="777240" y="1536192"/>
            <a:ext cx="58521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Dentro de la Actividad 2</a:t>
            </a:r>
            <a:endParaRPr lang="en-US" sz="2000" dirty="0"/>
          </a:p>
        </p:txBody>
      </p:sp>
      <p:sp>
        <p:nvSpPr>
          <p:cNvPr id="5" name="Dentro (texto)"/>
          <p:cNvSpPr txBox="1"/>
          <p:nvPr/>
        </p:nvSpPr>
        <p:spPr>
          <a:xfrm>
            <a:off x="777240" y="2011680"/>
            <a:ext cx="5852160" cy="34290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chemeClr val="tx1"/>
                </a:solidFill>
              </a:rPr>
              <a:t>Modelo entidad-relación y script SQL con datos de ejemplo</a:t>
            </a:r>
            <a:endParaRPr lang="en-US" sz="1700" dirty="0"/>
          </a:p>
          <a:p>
            <a:pPr marL="342900" indent="-342900">
              <a:spcAft>
                <a:spcPts val="400"/>
              </a:spcAft>
              <a:buSzPct val="100000"/>
              <a:buChar char="•"/>
            </a:pPr>
            <a:r>
              <a:rPr lang="en-US" sz="1700" dirty="0">
                <a:solidFill>
                  <a:schemeClr val="tx1"/>
                </a:solidFill>
              </a:rPr>
              <a:t>Conexión PDO configurada fuera de public/ y de git</a:t>
            </a:r>
            <a:endParaRPr lang="en-US" sz="1700" dirty="0"/>
          </a:p>
          <a:p>
            <a:pPr marL="342900" indent="-342900">
              <a:spcAft>
                <a:spcPts val="400"/>
              </a:spcAft>
              <a:buSzPct val="100000"/>
              <a:buChar char="•"/>
            </a:pPr>
            <a:r>
              <a:rPr lang="en-US" sz="1700" dirty="0">
                <a:solidFill>
                  <a:schemeClr val="tx1"/>
                </a:solidFill>
              </a:rPr>
              <a:t>CRUD de prendas y de socios con validación</a:t>
            </a:r>
            <a:endParaRPr lang="en-US" sz="1700" dirty="0"/>
          </a:p>
          <a:p>
            <a:pPr marL="342900" indent="-342900">
              <a:spcAft>
                <a:spcPts val="400"/>
              </a:spcAft>
              <a:buSzPct val="100000"/>
              <a:buChar char="•"/>
            </a:pPr>
            <a:r>
              <a:rPr lang="en-US" sz="1700" dirty="0">
                <a:solidFill>
                  <a:schemeClr val="tx1"/>
                </a:solidFill>
              </a:rPr>
              <a:t>Paginación de la tienda (8), la gestión (10) y los socios (5)</a:t>
            </a:r>
            <a:endParaRPr lang="en-US" sz="1700" dirty="0"/>
          </a:p>
          <a:p>
            <a:pPr marL="342900" indent="-342900">
              <a:spcAft>
                <a:spcPts val="400"/>
              </a:spcAft>
              <a:buSzPct val="100000"/>
              <a:buChar char="•"/>
            </a:pPr>
            <a:r>
              <a:rPr lang="en-US" sz="1700" dirty="0">
                <a:solidFill>
                  <a:schemeClr val="tx1"/>
                </a:solidFill>
              </a:rPr>
              <a:t>Demostración de resistencia a la inyección SQL</a:t>
            </a:r>
            <a:endParaRPr lang="en-US" sz="1700" dirty="0"/>
          </a:p>
          <a:p>
            <a:pPr marL="342900" indent="-342900">
              <a:spcAft>
                <a:spcPts val="400"/>
              </a:spcAft>
              <a:buSzPct val="100000"/>
              <a:buChar char="•"/>
            </a:pPr>
            <a:r>
              <a:rPr lang="en-US" sz="1700" dirty="0">
                <a:solidFill>
                  <a:schemeClr val="tx1"/>
                </a:solidFill>
              </a:rPr>
              <a:t>Migración de los datos JSON de la Actividad 1</a:t>
            </a:r>
            <a:endParaRPr lang="en-US" sz="1700" dirty="0"/>
          </a:p>
        </p:txBody>
      </p:sp>
      <p:sp>
        <p:nvSpPr>
          <p:cNvPr id="6" name="Fuera (fondo)"/>
          <p:cNvSpPr/>
          <p:nvPr/>
        </p:nvSpPr>
        <p:spPr>
          <a:xfrm>
            <a:off x="7178040" y="1371600"/>
            <a:ext cx="4462272" cy="4206240"/>
          </a:xfrm>
          <a:prstGeom prst="roundRect">
            <a:avLst>
              <a:gd name="adj" fmla="val 2609"/>
            </a:avLst>
          </a:prstGeom>
          <a:solidFill>
            <a:schemeClr val="bg1"/>
          </a:solidFill>
          <a:ln/>
        </p:spPr>
      </p:sp>
      <p:sp>
        <p:nvSpPr>
          <p:cNvPr id="7" name="Fuera (título)"/>
          <p:cNvSpPr txBox="1"/>
          <p:nvPr/>
        </p:nvSpPr>
        <p:spPr>
          <a:xfrm>
            <a:off x="7406640" y="1536192"/>
            <a:ext cx="4005072"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Para las próximas actividades</a:t>
            </a:r>
            <a:endParaRPr lang="en-US" sz="2000" dirty="0"/>
          </a:p>
        </p:txBody>
      </p:sp>
      <p:sp>
        <p:nvSpPr>
          <p:cNvPr id="8" name="Fuera (texto)"/>
          <p:cNvSpPr txBox="1"/>
          <p:nvPr/>
        </p:nvSpPr>
        <p:spPr>
          <a:xfrm>
            <a:off x="7406640" y="2011680"/>
            <a:ext cx="4005072" cy="34290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chemeClr val="tx1"/>
                </a:solidFill>
              </a:rPr>
              <a:t>Usuarios, sesiones y roles</a:t>
            </a:r>
            <a:endParaRPr lang="en-US" sz="1700" dirty="0"/>
          </a:p>
          <a:p>
            <a:pPr marL="342900" indent="-342900">
              <a:spcAft>
                <a:spcPts val="400"/>
              </a:spcAft>
              <a:buSzPct val="100000"/>
              <a:buChar char="•"/>
            </a:pPr>
            <a:r>
              <a:rPr lang="en-US" sz="1700" dirty="0">
                <a:solidFill>
                  <a:schemeClr val="tx1"/>
                </a:solidFill>
              </a:rPr>
              <a:t>Pedidos con descuento de stock</a:t>
            </a:r>
            <a:endParaRPr lang="en-US" sz="1700" dirty="0"/>
          </a:p>
          <a:p>
            <a:pPr marL="342900" indent="-342900">
              <a:spcAft>
                <a:spcPts val="400"/>
              </a:spcAft>
              <a:buSzPct val="100000"/>
              <a:buChar char="•"/>
            </a:pPr>
            <a:r>
              <a:rPr lang="en-US" sz="1700" dirty="0">
                <a:solidFill>
                  <a:schemeClr val="tx1"/>
                </a:solidFill>
              </a:rPr>
              <a:t>Reportes de ventas</a:t>
            </a:r>
            <a:endParaRPr lang="en-US" sz="1700" dirty="0"/>
          </a:p>
          <a:p>
            <a:pPr marL="342900" indent="-342900">
              <a:spcAft>
                <a:spcPts val="400"/>
              </a:spcAft>
              <a:buSzPct val="100000"/>
              <a:buChar char="•"/>
            </a:pPr>
            <a:r>
              <a:rPr lang="en-US" sz="1700" dirty="0">
                <a:solidFill>
                  <a:schemeClr val="tx1"/>
                </a:solidFill>
              </a:rPr>
              <a:t>API REST y fetch</a:t>
            </a:r>
            <a:endParaRPr lang="en-US" sz="1700" dirty="0"/>
          </a:p>
          <a:p>
            <a:pPr marL="342900" indent="-342900">
              <a:spcAft>
                <a:spcPts val="400"/>
              </a:spcAft>
              <a:buSzPct val="100000"/>
              <a:buChar char="•"/>
            </a:pPr>
            <a:r>
              <a:rPr lang="en-US" sz="1700" dirty="0">
                <a:solidFill>
                  <a:schemeClr val="tx1"/>
                </a:solidFill>
              </a:rPr>
              <a:t>Publicación en un hosting</a:t>
            </a:r>
            <a:endParaRPr lang="en-US" sz="1700" dirty="0"/>
          </a:p>
        </p:txBody>
      </p:sp>
      <p:sp>
        <p:nvSpPr>
          <p:cNvPr id="9" name="Borde fuera"/>
          <p:cNvSpPr/>
          <p:nvPr/>
        </p:nvSpPr>
        <p:spPr>
          <a:xfrm>
            <a:off x="7178040" y="1371600"/>
            <a:ext cx="4462272" cy="4206240"/>
          </a:xfrm>
          <a:prstGeom prst="roundRect">
            <a:avLst>
              <a:gd name="adj" fmla="val 2609"/>
            </a:avLst>
          </a:prstGeom>
          <a:ln w="25400">
            <a:solidFill>
              <a:srgbClr val="F8EEF0"/>
            </a:solidFill>
            <a:prstDash val="solid"/>
          </a:ln>
        </p:spPr>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Modelo entidad-relación: 5 tablas, 4 claves foráneas</a:t>
            </a:r>
            <a:endParaRPr lang="en-US" sz="3000" dirty="0"/>
          </a:p>
        </p:txBody>
      </p:sp>
      <p:sp>
        <p:nvSpPr>
          <p:cNvPr id="3" name="Marco Diagrama entidad-relación"/>
          <p:cNvSpPr/>
          <p:nvPr/>
        </p:nvSpPr>
        <p:spPr>
          <a:xfrm>
            <a:off x="512064" y="1289304"/>
            <a:ext cx="5330952" cy="4599432"/>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4" name="Diagrama entidad-relación" descr="Diagrama entidad-relación">    </p:cNvPr>
          <p:cNvPicPr>
            <a:picLocks noChangeAspect="1"/>
          </p:cNvPicPr>
          <p:nvPr/>
        </p:nvPicPr>
        <p:blipFill>
          <a:blip r:embed="rId1"/>
          <a:stretch>
            <a:fillRect/>
          </a:stretch>
        </p:blipFill>
        <p:spPr>
          <a:xfrm>
            <a:off x="548640" y="1325880"/>
            <a:ext cx="5257800" cy="4526280"/>
          </a:xfrm>
          <a:prstGeom prst="rect">
            <a:avLst/>
          </a:prstGeom>
        </p:spPr>
      </p:pic>
      <p:sp>
        <p:nvSpPr>
          <p:cNvPr id="5" name="Insignia 1"/>
          <p:cNvSpPr/>
          <p:nvPr/>
        </p:nvSpPr>
        <p:spPr>
          <a:xfrm>
            <a:off x="6263640" y="1481328"/>
            <a:ext cx="502920" cy="502920"/>
          </a:xfrm>
          <a:prstGeom prst="ellipse">
            <a:avLst/>
          </a:prstGeom>
          <a:solidFill>
            <a:schemeClr val="accent2"/>
          </a:solidFill>
          <a:ln/>
        </p:spPr>
      </p:sp>
      <p:sp>
        <p:nvSpPr>
          <p:cNvPr id="6" name="Insignia texto 1"/>
          <p:cNvSpPr txBox="1"/>
          <p:nvPr/>
        </p:nvSpPr>
        <p:spPr>
          <a:xfrm>
            <a:off x="6263640" y="14813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Fila 1"/>
          <p:cNvSpPr txBox="1"/>
          <p:nvPr/>
        </p:nvSpPr>
        <p:spPr>
          <a:xfrm>
            <a:off x="6949440" y="1463040"/>
            <a:ext cx="4709160" cy="777240"/>
          </a:xfrm>
          <a:prstGeom prst="rect">
            <a:avLst/>
          </a:prstGeom>
          <a:noFill/>
          <a:ln/>
        </p:spPr>
        <p:txBody>
          <a:bodyPr wrap="square" lIns="0" tIns="0" rIns="0" bIns="0" rtlCol="0" anchor="t"/>
          <a:lstStyle/>
          <a:p>
            <a:pPr indent="0" marL="0">
              <a:buNone/>
            </a:pPr>
            <a:r>
              <a:rPr lang="en-US" sz="1500" b="1" dirty="0">
                <a:solidFill>
                  <a:schemeClr val="tx1"/>
                </a:solidFill>
              </a:rPr>
              <a:t>El socio pasa a ser una entidad</a:t>
            </a:r>
            <a:endParaRPr lang="en-US" sz="1500" dirty="0"/>
          </a:p>
          <a:p>
            <a:pPr indent="0" marL="0">
              <a:buNone/>
            </a:pPr>
            <a:r>
              <a:rPr lang="en-US" sz="1500" dirty="0">
                <a:solidFill>
                  <a:schemeClr val="accent6"/>
                </a:solidFill>
              </a:rPr>
              <a:t>Antes era un texto libre en el JSON; ahora se sabe cuántas prendas aporta cada socia.</a:t>
            </a:r>
            <a:endParaRPr lang="en-US" sz="1500" dirty="0"/>
          </a:p>
        </p:txBody>
      </p:sp>
      <p:sp>
        <p:nvSpPr>
          <p:cNvPr id="8" name="Insignia 2"/>
          <p:cNvSpPr/>
          <p:nvPr/>
        </p:nvSpPr>
        <p:spPr>
          <a:xfrm>
            <a:off x="6263640" y="2761488"/>
            <a:ext cx="502920" cy="502920"/>
          </a:xfrm>
          <a:prstGeom prst="ellipse">
            <a:avLst/>
          </a:prstGeom>
          <a:solidFill>
            <a:schemeClr val="accent2"/>
          </a:solidFill>
          <a:ln/>
        </p:spPr>
      </p:sp>
      <p:sp>
        <p:nvSpPr>
          <p:cNvPr id="9" name="Insignia texto 2"/>
          <p:cNvSpPr txBox="1"/>
          <p:nvPr/>
        </p:nvSpPr>
        <p:spPr>
          <a:xfrm>
            <a:off x="6263640" y="27614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Fila 2"/>
          <p:cNvSpPr txBox="1"/>
          <p:nvPr/>
        </p:nvSpPr>
        <p:spPr>
          <a:xfrm>
            <a:off x="6949440" y="2743200"/>
            <a:ext cx="4709160" cy="777240"/>
          </a:xfrm>
          <a:prstGeom prst="rect">
            <a:avLst/>
          </a:prstGeom>
          <a:noFill/>
          <a:ln/>
        </p:spPr>
        <p:txBody>
          <a:bodyPr wrap="square" lIns="0" tIns="0" rIns="0" bIns="0" rtlCol="0" anchor="t"/>
          <a:lstStyle/>
          <a:p>
            <a:pPr indent="0" marL="0">
              <a:buNone/>
            </a:pPr>
            <a:r>
              <a:rPr lang="en-US" sz="1500" b="1" dirty="0">
                <a:solidFill>
                  <a:schemeClr val="tx1"/>
                </a:solidFill>
              </a:rPr>
              <a:t>Tallas en una tabla intermedia</a:t>
            </a:r>
            <a:endParaRPr lang="en-US" sz="1500" dirty="0"/>
          </a:p>
          <a:p>
            <a:pPr indent="0" marL="0">
              <a:buNone/>
            </a:pPr>
            <a:r>
              <a:rPr lang="en-US" sz="1500" dirty="0">
                <a:solidFill>
                  <a:schemeClr val="accent6"/>
                </a:solidFill>
              </a:rPr>
              <a:t>producto_tallas resuelve la relación muchos a muchos (primera forma normal).</a:t>
            </a:r>
            <a:endParaRPr lang="en-US" sz="1500" dirty="0"/>
          </a:p>
        </p:txBody>
      </p:sp>
      <p:sp>
        <p:nvSpPr>
          <p:cNvPr id="11" name="Insignia 3"/>
          <p:cNvSpPr/>
          <p:nvPr/>
        </p:nvSpPr>
        <p:spPr>
          <a:xfrm>
            <a:off x="6263640" y="4041648"/>
            <a:ext cx="502920" cy="502920"/>
          </a:xfrm>
          <a:prstGeom prst="ellipse">
            <a:avLst/>
          </a:prstGeom>
          <a:solidFill>
            <a:schemeClr val="accent2"/>
          </a:solidFill>
          <a:ln/>
        </p:spPr>
      </p:sp>
      <p:sp>
        <p:nvSpPr>
          <p:cNvPr id="12" name="Insignia texto 3"/>
          <p:cNvSpPr txBox="1"/>
          <p:nvPr/>
        </p:nvSpPr>
        <p:spPr>
          <a:xfrm>
            <a:off x="6263640" y="4041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Fila 3"/>
          <p:cNvSpPr txBox="1"/>
          <p:nvPr/>
        </p:nvSpPr>
        <p:spPr>
          <a:xfrm>
            <a:off x="6949440" y="4023360"/>
            <a:ext cx="4709160" cy="777240"/>
          </a:xfrm>
          <a:prstGeom prst="rect">
            <a:avLst/>
          </a:prstGeom>
          <a:noFill/>
          <a:ln/>
        </p:spPr>
        <p:txBody>
          <a:bodyPr wrap="square" lIns="0" tIns="0" rIns="0" bIns="0" rtlCol="0" anchor="t"/>
          <a:lstStyle/>
          <a:p>
            <a:pPr indent="0" marL="0">
              <a:buNone/>
            </a:pPr>
            <a:r>
              <a:rPr lang="en-US" sz="1500" b="1" dirty="0">
                <a:solidFill>
                  <a:schemeClr val="tx1"/>
                </a:solidFill>
              </a:rPr>
              <a:t>Datos de ejemplo verificados a mano</a:t>
            </a:r>
            <a:endParaRPr lang="en-US" sz="1500" dirty="0"/>
          </a:p>
          <a:p>
            <a:pPr indent="0" marL="0">
              <a:buNone/>
            </a:pPr>
            <a:r>
              <a:rPr lang="en-US" sz="1500" dirty="0">
                <a:solidFill>
                  <a:schemeClr val="accent6"/>
                </a:solidFill>
              </a:rPr>
              <a:t>6 socios, 14 prendas, 157 unidades y Bs 19.538,50 de inventario.</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Las reglas del negocio también viven en la base</a:t>
            </a:r>
            <a:endParaRPr lang="en-US" sz="3000" dirty="0"/>
          </a:p>
        </p:txBody>
      </p:sp>
      <p:sp>
        <p:nvSpPr>
          <p:cNvPr id="3" name="Regla 1 (fondo)"/>
          <p:cNvSpPr/>
          <p:nvPr/>
        </p:nvSpPr>
        <p:spPr>
          <a:xfrm>
            <a:off x="548640" y="1371600"/>
            <a:ext cx="3520440" cy="2057400"/>
          </a:xfrm>
          <a:prstGeom prst="roundRect">
            <a:avLst>
              <a:gd name="adj" fmla="val 5333"/>
            </a:avLst>
          </a:prstGeom>
          <a:solidFill>
            <a:schemeClr val="bg2"/>
          </a:solidFill>
          <a:ln/>
        </p:spPr>
      </p:sp>
      <p:sp>
        <p:nvSpPr>
          <p:cNvPr id="4" name="Regla 1 (título)"/>
          <p:cNvSpPr txBox="1"/>
          <p:nvPr/>
        </p:nvSpPr>
        <p:spPr>
          <a:xfrm>
            <a:off x="777240" y="153619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ON DELETE RESTRICT</a:t>
            </a:r>
            <a:endParaRPr lang="en-US" sz="2000" dirty="0"/>
          </a:p>
        </p:txBody>
      </p:sp>
      <p:sp>
        <p:nvSpPr>
          <p:cNvPr id="5" name="Regla 1 (texto)"/>
          <p:cNvSpPr txBox="1"/>
          <p:nvPr/>
        </p:nvSpPr>
        <p:spPr>
          <a:xfrm>
            <a:off x="777240" y="2011680"/>
            <a:ext cx="3063240" cy="1280160"/>
          </a:xfrm>
          <a:prstGeom prst="rect">
            <a:avLst/>
          </a:prstGeom>
          <a:noFill/>
          <a:ln/>
        </p:spPr>
        <p:txBody>
          <a:bodyPr wrap="square" lIns="0" tIns="0" rIns="0" bIns="0" rtlCol="0" anchor="t"/>
          <a:lstStyle/>
          <a:p>
            <a:pPr indent="0" marL="0">
              <a:buNone/>
            </a:pPr>
            <a:r>
              <a:rPr lang="en-US" sz="1700" dirty="0">
                <a:solidFill>
                  <a:schemeClr val="tx1"/>
                </a:solidFill>
              </a:rPr>
              <a:t>No se puede borrar una socia o una categoría que tiene prendas.</a:t>
            </a:r>
            <a:endParaRPr lang="en-US" sz="1700" dirty="0"/>
          </a:p>
        </p:txBody>
      </p:sp>
      <p:sp>
        <p:nvSpPr>
          <p:cNvPr id="6" name="Regla 2 (fondo)"/>
          <p:cNvSpPr/>
          <p:nvPr/>
        </p:nvSpPr>
        <p:spPr>
          <a:xfrm>
            <a:off x="4325112" y="1371600"/>
            <a:ext cx="3520440" cy="2057400"/>
          </a:xfrm>
          <a:prstGeom prst="roundRect">
            <a:avLst>
              <a:gd name="adj" fmla="val 5333"/>
            </a:avLst>
          </a:prstGeom>
          <a:solidFill>
            <a:schemeClr val="bg2"/>
          </a:solidFill>
          <a:ln/>
        </p:spPr>
      </p:sp>
      <p:sp>
        <p:nvSpPr>
          <p:cNvPr id="7" name="Regla 2 (título)"/>
          <p:cNvSpPr txBox="1"/>
          <p:nvPr/>
        </p:nvSpPr>
        <p:spPr>
          <a:xfrm>
            <a:off x="4553712" y="153619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ON DELETE CASCADE</a:t>
            </a:r>
            <a:endParaRPr lang="en-US" sz="2000" dirty="0"/>
          </a:p>
        </p:txBody>
      </p:sp>
      <p:sp>
        <p:nvSpPr>
          <p:cNvPr id="8" name="Regla 2 (texto)"/>
          <p:cNvSpPr txBox="1"/>
          <p:nvPr/>
        </p:nvSpPr>
        <p:spPr>
          <a:xfrm>
            <a:off x="4553712" y="2011680"/>
            <a:ext cx="3063240" cy="1280160"/>
          </a:xfrm>
          <a:prstGeom prst="rect">
            <a:avLst/>
          </a:prstGeom>
          <a:noFill/>
          <a:ln/>
        </p:spPr>
        <p:txBody>
          <a:bodyPr wrap="square" lIns="0" tIns="0" rIns="0" bIns="0" rtlCol="0" anchor="t"/>
          <a:lstStyle/>
          <a:p>
            <a:pPr indent="0" marL="0">
              <a:buNone/>
            </a:pPr>
            <a:r>
              <a:rPr lang="en-US" sz="1700" dirty="0">
                <a:solidFill>
                  <a:schemeClr val="tx1"/>
                </a:solidFill>
              </a:rPr>
              <a:t>Al borrar una prenda, sus tallas se borran solas.</a:t>
            </a:r>
            <a:endParaRPr lang="en-US" sz="1700" dirty="0"/>
          </a:p>
        </p:txBody>
      </p:sp>
      <p:sp>
        <p:nvSpPr>
          <p:cNvPr id="9" name="Regla 3 (fondo)"/>
          <p:cNvSpPr/>
          <p:nvPr/>
        </p:nvSpPr>
        <p:spPr>
          <a:xfrm>
            <a:off x="8101584" y="1371600"/>
            <a:ext cx="3520440" cy="2057400"/>
          </a:xfrm>
          <a:prstGeom prst="roundRect">
            <a:avLst>
              <a:gd name="adj" fmla="val 5333"/>
            </a:avLst>
          </a:prstGeom>
          <a:solidFill>
            <a:schemeClr val="bg2"/>
          </a:solidFill>
          <a:ln/>
        </p:spPr>
      </p:sp>
      <p:sp>
        <p:nvSpPr>
          <p:cNvPr id="10" name="Regla 3 (título)"/>
          <p:cNvSpPr txBox="1"/>
          <p:nvPr/>
        </p:nvSpPr>
        <p:spPr>
          <a:xfrm>
            <a:off x="8330184" y="153619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UNIQUE</a:t>
            </a:r>
            <a:endParaRPr lang="en-US" sz="2000" dirty="0"/>
          </a:p>
        </p:txBody>
      </p:sp>
      <p:sp>
        <p:nvSpPr>
          <p:cNvPr id="11" name="Regla 3 (texto)"/>
          <p:cNvSpPr txBox="1"/>
          <p:nvPr/>
        </p:nvSpPr>
        <p:spPr>
          <a:xfrm>
            <a:off x="8330184" y="2011680"/>
            <a:ext cx="3063240" cy="1280160"/>
          </a:xfrm>
          <a:prstGeom prst="rect">
            <a:avLst/>
          </a:prstGeom>
          <a:noFill/>
          <a:ln/>
        </p:spPr>
        <p:txBody>
          <a:bodyPr wrap="square" lIns="0" tIns="0" rIns="0" bIns="0" rtlCol="0" anchor="t"/>
          <a:lstStyle/>
          <a:p>
            <a:pPr indent="0" marL="0">
              <a:buNone/>
            </a:pPr>
            <a:r>
              <a:rPr lang="en-US" sz="1700" dirty="0">
                <a:solidFill>
                  <a:schemeClr val="tx1"/>
                </a:solidFill>
              </a:rPr>
              <a:t>Ni el código de una prenda ni el CI de un socio se repiten.</a:t>
            </a:r>
            <a:endParaRPr lang="en-US" sz="1700" dirty="0"/>
          </a:p>
        </p:txBody>
      </p:sp>
      <p:sp>
        <p:nvSpPr>
          <p:cNvPr id="12" name="Regla 4 (fondo)"/>
          <p:cNvSpPr/>
          <p:nvPr/>
        </p:nvSpPr>
        <p:spPr>
          <a:xfrm>
            <a:off x="548640" y="3749040"/>
            <a:ext cx="3520440" cy="2057400"/>
          </a:xfrm>
          <a:prstGeom prst="roundRect">
            <a:avLst>
              <a:gd name="adj" fmla="val 5333"/>
            </a:avLst>
          </a:prstGeom>
          <a:solidFill>
            <a:schemeClr val="bg2"/>
          </a:solidFill>
          <a:ln/>
        </p:spPr>
      </p:sp>
      <p:sp>
        <p:nvSpPr>
          <p:cNvPr id="13" name="Regla 4 (título)"/>
          <p:cNvSpPr txBox="1"/>
          <p:nvPr/>
        </p:nvSpPr>
        <p:spPr>
          <a:xfrm>
            <a:off x="777240" y="3913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CHECK</a:t>
            </a:r>
            <a:endParaRPr lang="en-US" sz="2000" dirty="0"/>
          </a:p>
        </p:txBody>
      </p:sp>
      <p:sp>
        <p:nvSpPr>
          <p:cNvPr id="14" name="Regla 4 (texto)"/>
          <p:cNvSpPr txBox="1"/>
          <p:nvPr/>
        </p:nvSpPr>
        <p:spPr>
          <a:xfrm>
            <a:off x="777240" y="4389120"/>
            <a:ext cx="3063240" cy="1280160"/>
          </a:xfrm>
          <a:prstGeom prst="rect">
            <a:avLst/>
          </a:prstGeom>
          <a:noFill/>
          <a:ln/>
        </p:spPr>
        <p:txBody>
          <a:bodyPr wrap="square" lIns="0" tIns="0" rIns="0" bIns="0" rtlCol="0" anchor="t"/>
          <a:lstStyle/>
          <a:p>
            <a:pPr indent="0" marL="0">
              <a:buNone/>
            </a:pPr>
            <a:r>
              <a:rPr lang="en-US" sz="1700" dirty="0">
                <a:solidFill>
                  <a:schemeClr val="tx1"/>
                </a:solidFill>
              </a:rPr>
              <a:t>Precio mayor que cero; celular de 8 dígitos que empieza en 6 o 7.</a:t>
            </a:r>
            <a:endParaRPr lang="en-US" sz="1700" dirty="0"/>
          </a:p>
        </p:txBody>
      </p:sp>
      <p:sp>
        <p:nvSpPr>
          <p:cNvPr id="15" name="Regla 5 (fondo)"/>
          <p:cNvSpPr/>
          <p:nvPr/>
        </p:nvSpPr>
        <p:spPr>
          <a:xfrm>
            <a:off x="4325112" y="3749040"/>
            <a:ext cx="3520440" cy="2057400"/>
          </a:xfrm>
          <a:prstGeom prst="roundRect">
            <a:avLst>
              <a:gd name="adj" fmla="val 5333"/>
            </a:avLst>
          </a:prstGeom>
          <a:solidFill>
            <a:schemeClr val="bg2"/>
          </a:solidFill>
          <a:ln/>
        </p:spPr>
      </p:sp>
      <p:sp>
        <p:nvSpPr>
          <p:cNvPr id="16" name="Regla 5 (título)"/>
          <p:cNvSpPr txBox="1"/>
          <p:nvPr/>
        </p:nvSpPr>
        <p:spPr>
          <a:xfrm>
            <a:off x="4553712" y="3913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DECIMAL(10,2)</a:t>
            </a:r>
            <a:endParaRPr lang="en-US" sz="2000" dirty="0"/>
          </a:p>
        </p:txBody>
      </p:sp>
      <p:sp>
        <p:nvSpPr>
          <p:cNvPr id="17" name="Regla 5 (texto)"/>
          <p:cNvSpPr txBox="1"/>
          <p:nvPr/>
        </p:nvSpPr>
        <p:spPr>
          <a:xfrm>
            <a:off x="4553712" y="4389120"/>
            <a:ext cx="3063240" cy="1280160"/>
          </a:xfrm>
          <a:prstGeom prst="rect">
            <a:avLst/>
          </a:prstGeom>
          <a:noFill/>
          <a:ln/>
        </p:spPr>
        <p:txBody>
          <a:bodyPr wrap="square" lIns="0" tIns="0" rIns="0" bIns="0" rtlCol="0" anchor="t"/>
          <a:lstStyle/>
          <a:p>
            <a:pPr indent="0" marL="0">
              <a:buNone/>
            </a:pPr>
            <a:r>
              <a:rPr lang="en-US" sz="1700" dirty="0">
                <a:solidFill>
                  <a:schemeClr val="tx1"/>
                </a:solidFill>
              </a:rPr>
              <a:t>El dinero no se guarda en coma flotante.</a:t>
            </a:r>
            <a:endParaRPr lang="en-US" sz="1700" dirty="0"/>
          </a:p>
        </p:txBody>
      </p:sp>
      <p:sp>
        <p:nvSpPr>
          <p:cNvPr id="18" name="Regla 6 (fondo)"/>
          <p:cNvSpPr/>
          <p:nvPr/>
        </p:nvSpPr>
        <p:spPr>
          <a:xfrm>
            <a:off x="8101584" y="3749040"/>
            <a:ext cx="3520440" cy="2057400"/>
          </a:xfrm>
          <a:prstGeom prst="roundRect">
            <a:avLst>
              <a:gd name="adj" fmla="val 5333"/>
            </a:avLst>
          </a:prstGeom>
          <a:solidFill>
            <a:schemeClr val="bg2"/>
          </a:solidFill>
          <a:ln/>
        </p:spPr>
      </p:sp>
      <p:sp>
        <p:nvSpPr>
          <p:cNvPr id="19" name="Regla 6 (título)"/>
          <p:cNvSpPr txBox="1"/>
          <p:nvPr/>
        </p:nvSpPr>
        <p:spPr>
          <a:xfrm>
            <a:off x="8330184" y="3913632"/>
            <a:ext cx="306324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utf8mb4 + InnoDB</a:t>
            </a:r>
            <a:endParaRPr lang="en-US" sz="2000" dirty="0"/>
          </a:p>
        </p:txBody>
      </p:sp>
      <p:sp>
        <p:nvSpPr>
          <p:cNvPr id="20" name="Regla 6 (texto)"/>
          <p:cNvSpPr txBox="1"/>
          <p:nvPr/>
        </p:nvSpPr>
        <p:spPr>
          <a:xfrm>
            <a:off x="8330184" y="4389120"/>
            <a:ext cx="3063240" cy="1280160"/>
          </a:xfrm>
          <a:prstGeom prst="rect">
            <a:avLst/>
          </a:prstGeom>
          <a:noFill/>
          <a:ln/>
        </p:spPr>
        <p:txBody>
          <a:bodyPr wrap="square" lIns="0" tIns="0" rIns="0" bIns="0" rtlCol="0" anchor="t"/>
          <a:lstStyle/>
          <a:p>
            <a:pPr indent="0" marL="0">
              <a:buNone/>
            </a:pPr>
            <a:r>
              <a:rPr lang="en-US" sz="1700" dirty="0">
                <a:solidFill>
                  <a:schemeClr val="tx1"/>
                </a:solidFill>
              </a:rPr>
              <a:t>Acentos y eñes (Chuvé, saó), claves foráneas y transacciones.</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Conexión PDO segura y fuera del código público</a:t>
            </a:r>
            <a:endParaRPr lang="en-US" sz="3000" dirty="0"/>
          </a:p>
        </p:txBody>
      </p:sp>
      <p:sp>
        <p:nvSpPr>
          <p:cNvPr id="3" name="Código (fondo)"/>
          <p:cNvSpPr/>
          <p:nvPr/>
        </p:nvSpPr>
        <p:spPr>
          <a:xfrm>
            <a:off x="548640" y="1417320"/>
            <a:ext cx="6309360" cy="3291840"/>
          </a:xfrm>
          <a:prstGeom prst="roundRect">
            <a:avLst>
              <a:gd name="adj" fmla="val 2778"/>
            </a:avLst>
          </a:prstGeom>
          <a:solidFill>
            <a:schemeClr val="tx1"/>
          </a:solidFill>
          <a:ln/>
        </p:spPr>
      </p:sp>
      <p:sp>
        <p:nvSpPr>
          <p:cNvPr id="4" name="Código"/>
          <p:cNvSpPr txBox="1"/>
          <p:nvPr/>
        </p:nvSpPr>
        <p:spPr>
          <a:xfrm>
            <a:off x="822960" y="1600200"/>
            <a:ext cx="5760720" cy="2926080"/>
          </a:xfrm>
          <a:prstGeom prst="rect">
            <a:avLst/>
          </a:prstGeom>
          <a:noFill/>
          <a:ln/>
        </p:spPr>
        <p:txBody>
          <a:bodyPr wrap="square" lIns="0" tIns="0" rIns="0" bIns="0" rtlCol="0" anchor="t"/>
          <a:lstStyle/>
          <a:p>
            <a:pPr indent="0" marL="0">
              <a:buNone/>
            </a:pPr>
            <a:r>
              <a:rPr lang="en-US" sz="1700" dirty="0">
                <a:solidFill>
                  <a:schemeClr val="bg2"/>
                </a:solidFill>
                <a:latin typeface="Consolas" pitchFamily="34" charset="0"/>
                <a:ea typeface="Consolas" pitchFamily="34" charset="-122"/>
                <a:cs typeface="Consolas" pitchFamily="34" charset="-120"/>
              </a:rPr>
              <a:t>return new PDO($dsn, $usuario, $clave, [</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PDO::ATTR_ERRMODE =&gt;</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PDO::ERRMODE_EXCEPTION,</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PDO::ATTR_DEFAULT_FETCH_MODE =&gt;</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PDO::FETCH_ASSOC,</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 consultas preparadas REALES</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    PDO::ATTR_EMULATE_PREPARES =&gt; false,</a:t>
            </a:r>
            <a:endParaRPr lang="en-US" sz="1700" dirty="0"/>
          </a:p>
          <a:p>
            <a:pPr indent="0" marL="0">
              <a:buNone/>
            </a:pPr>
            <a:r>
              <a:rPr lang="en-US" sz="1700" dirty="0">
                <a:solidFill>
                  <a:schemeClr val="bg2"/>
                </a:solidFill>
                <a:latin typeface="Consolas" pitchFamily="34" charset="0"/>
                <a:ea typeface="Consolas" pitchFamily="34" charset="-122"/>
                <a:cs typeface="Consolas" pitchFamily="34" charset="-120"/>
              </a:rPr>
              <a:t>]);</a:t>
            </a:r>
            <a:endParaRPr lang="en-US" sz="1700" dirty="0"/>
          </a:p>
        </p:txBody>
      </p:sp>
      <p:sp>
        <p:nvSpPr>
          <p:cNvPr id="5" name="Ruta del código"/>
          <p:cNvSpPr txBox="1"/>
          <p:nvPr/>
        </p:nvSpPr>
        <p:spPr>
          <a:xfrm>
            <a:off x="548640" y="4800600"/>
            <a:ext cx="6309360" cy="320040"/>
          </a:xfrm>
          <a:prstGeom prst="rect">
            <a:avLst/>
          </a:prstGeom>
          <a:noFill/>
          <a:ln/>
        </p:spPr>
        <p:txBody>
          <a:bodyPr wrap="square" lIns="0" tIns="0" rIns="0" bIns="0" rtlCol="0" anchor="ctr"/>
          <a:lstStyle/>
          <a:p>
            <a:pPr indent="0" marL="0">
              <a:buNone/>
            </a:pPr>
            <a:r>
              <a:rPr lang="en-US" sz="1200" i="1" dirty="0">
                <a:solidFill>
                  <a:schemeClr val="accent6"/>
                </a:solidFill>
              </a:rPr>
              <a:t>src/Conexion.php</a:t>
            </a:r>
            <a:endParaRPr lang="en-US" sz="1200" dirty="0"/>
          </a:p>
        </p:txBody>
      </p:sp>
      <p:sp>
        <p:nvSpPr>
          <p:cNvPr id="6" name="Insignia 1"/>
          <p:cNvSpPr/>
          <p:nvPr/>
        </p:nvSpPr>
        <p:spPr>
          <a:xfrm>
            <a:off x="7178040" y="1435608"/>
            <a:ext cx="502920" cy="502920"/>
          </a:xfrm>
          <a:prstGeom prst="ellipse">
            <a:avLst/>
          </a:prstGeom>
          <a:solidFill>
            <a:schemeClr val="accent2"/>
          </a:solidFill>
          <a:ln/>
        </p:spPr>
      </p:sp>
      <p:sp>
        <p:nvSpPr>
          <p:cNvPr id="7" name="Insignia texto 1"/>
          <p:cNvSpPr txBox="1"/>
          <p:nvPr/>
        </p:nvSpPr>
        <p:spPr>
          <a:xfrm>
            <a:off x="7178040" y="143560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Fila 1"/>
          <p:cNvSpPr txBox="1"/>
          <p:nvPr/>
        </p:nvSpPr>
        <p:spPr>
          <a:xfrm>
            <a:off x="7863840" y="1417320"/>
            <a:ext cx="3776472" cy="777240"/>
          </a:xfrm>
          <a:prstGeom prst="rect">
            <a:avLst/>
          </a:prstGeom>
          <a:noFill/>
          <a:ln/>
        </p:spPr>
        <p:txBody>
          <a:bodyPr wrap="square" lIns="0" tIns="0" rIns="0" bIns="0" rtlCol="0" anchor="t"/>
          <a:lstStyle/>
          <a:p>
            <a:pPr indent="0" marL="0">
              <a:buNone/>
            </a:pPr>
            <a:r>
              <a:rPr lang="en-US" sz="1500" b="1" dirty="0">
                <a:solidFill>
                  <a:schemeClr val="tx1"/>
                </a:solidFill>
              </a:rPr>
              <a:t>config/ fuera de public/</a:t>
            </a:r>
            <a:endParaRPr lang="en-US" sz="1500" dirty="0"/>
          </a:p>
          <a:p>
            <a:pPr indent="0" marL="0">
              <a:buNone/>
            </a:pPr>
            <a:r>
              <a:rPr lang="en-US" sz="1500" dirty="0">
                <a:solidFill>
                  <a:schemeClr val="accent6"/>
                </a:solidFill>
              </a:rPr>
              <a:t>config.php está en .gitignore; se versiona solo la plantilla.</a:t>
            </a:r>
            <a:endParaRPr lang="en-US" sz="1500" dirty="0"/>
          </a:p>
        </p:txBody>
      </p:sp>
      <p:sp>
        <p:nvSpPr>
          <p:cNvPr id="9" name="Insignia 2"/>
          <p:cNvSpPr/>
          <p:nvPr/>
        </p:nvSpPr>
        <p:spPr>
          <a:xfrm>
            <a:off x="7178040" y="2715768"/>
            <a:ext cx="502920" cy="502920"/>
          </a:xfrm>
          <a:prstGeom prst="ellipse">
            <a:avLst/>
          </a:prstGeom>
          <a:solidFill>
            <a:schemeClr val="accent2"/>
          </a:solidFill>
          <a:ln/>
        </p:spPr>
      </p:sp>
      <p:sp>
        <p:nvSpPr>
          <p:cNvPr id="10" name="Insignia texto 2"/>
          <p:cNvSpPr txBox="1"/>
          <p:nvPr/>
        </p:nvSpPr>
        <p:spPr>
          <a:xfrm>
            <a:off x="7178040" y="27157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Fila 2"/>
          <p:cNvSpPr txBox="1"/>
          <p:nvPr/>
        </p:nvSpPr>
        <p:spPr>
          <a:xfrm>
            <a:off x="7863840" y="2697480"/>
            <a:ext cx="3776472" cy="777240"/>
          </a:xfrm>
          <a:prstGeom prst="rect">
            <a:avLst/>
          </a:prstGeom>
          <a:noFill/>
          <a:ln/>
        </p:spPr>
        <p:txBody>
          <a:bodyPr wrap="square" lIns="0" tIns="0" rIns="0" bIns="0" rtlCol="0" anchor="t"/>
          <a:lstStyle/>
          <a:p>
            <a:pPr indent="0" marL="0">
              <a:buNone/>
            </a:pPr>
            <a:r>
              <a:rPr lang="en-US" sz="1500" b="1" dirty="0">
                <a:solidFill>
                  <a:schemeClr val="tx1"/>
                </a:solidFill>
              </a:rPr>
              <a:t>Sin emulación</a:t>
            </a:r>
            <a:endParaRPr lang="en-US" sz="1500" dirty="0"/>
          </a:p>
          <a:p>
            <a:pPr indent="0" marL="0">
              <a:buNone/>
            </a:pPr>
            <a:r>
              <a:rPr lang="en-US" sz="1500" dirty="0">
                <a:solidFill>
                  <a:schemeClr val="accent6"/>
                </a:solidFill>
              </a:rPr>
              <a:t>MySQL recibe la consulta y los datos por separado.</a:t>
            </a:r>
            <a:endParaRPr lang="en-US" sz="1500" dirty="0"/>
          </a:p>
        </p:txBody>
      </p:sp>
      <p:sp>
        <p:nvSpPr>
          <p:cNvPr id="12" name="Insignia 3"/>
          <p:cNvSpPr/>
          <p:nvPr/>
        </p:nvSpPr>
        <p:spPr>
          <a:xfrm>
            <a:off x="7178040" y="3995928"/>
            <a:ext cx="502920" cy="502920"/>
          </a:xfrm>
          <a:prstGeom prst="ellipse">
            <a:avLst/>
          </a:prstGeom>
          <a:solidFill>
            <a:schemeClr val="accent2"/>
          </a:solidFill>
          <a:ln/>
        </p:spPr>
      </p:sp>
      <p:sp>
        <p:nvSpPr>
          <p:cNvPr id="13" name="Insignia texto 3"/>
          <p:cNvSpPr txBox="1"/>
          <p:nvPr/>
        </p:nvSpPr>
        <p:spPr>
          <a:xfrm>
            <a:off x="7178040" y="399592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Fila 3"/>
          <p:cNvSpPr txBox="1"/>
          <p:nvPr/>
        </p:nvSpPr>
        <p:spPr>
          <a:xfrm>
            <a:off x="7863840" y="3977640"/>
            <a:ext cx="3776472" cy="777240"/>
          </a:xfrm>
          <a:prstGeom prst="rect">
            <a:avLst/>
          </a:prstGeom>
          <a:noFill/>
          <a:ln/>
        </p:spPr>
        <p:txBody>
          <a:bodyPr wrap="square" lIns="0" tIns="0" rIns="0" bIns="0" rtlCol="0" anchor="t"/>
          <a:lstStyle/>
          <a:p>
            <a:pPr indent="0" marL="0">
              <a:buNone/>
            </a:pPr>
            <a:r>
              <a:rPr lang="en-US" sz="1500" b="1" dirty="0">
                <a:solidFill>
                  <a:schemeClr val="tx1"/>
                </a:solidFill>
              </a:rPr>
              <a:t>Errores sin detalles</a:t>
            </a:r>
            <a:endParaRPr lang="en-US" sz="1500" dirty="0"/>
          </a:p>
          <a:p>
            <a:pPr indent="0" marL="0">
              <a:buNone/>
            </a:pPr>
            <a:r>
              <a:rPr lang="en-US" sz="1500" dirty="0">
                <a:solidFill>
                  <a:schemeClr val="accent6"/>
                </a:solidFill>
              </a:rPr>
              <a:t>Si la base no responde: página 503 genérica, sin SQL ni credenciales.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Repositorios: las páginas ya no conocen el SQL</a:t>
            </a:r>
            <a:endParaRPr lang="en-US" sz="3000" dirty="0"/>
          </a:p>
        </p:txBody>
      </p:sp>
      <p:sp>
        <p:nvSpPr>
          <p:cNvPr id="3" name="Capa 1"/>
          <p:cNvSpPr/>
          <p:nvPr/>
        </p:nvSpPr>
        <p:spPr>
          <a:xfrm>
            <a:off x="548640" y="1463040"/>
            <a:ext cx="2377440" cy="1280160"/>
          </a:xfrm>
          <a:prstGeom prst="roundRect">
            <a:avLst>
              <a:gd name="adj" fmla="val 8571"/>
            </a:avLst>
          </a:prstGeom>
          <a:solidFill>
            <a:schemeClr val="bg2"/>
          </a:solidFill>
          <a:ln/>
        </p:spPr>
      </p:sp>
      <p:sp>
        <p:nvSpPr>
          <p:cNvPr id="4" name="Capa texto 1"/>
          <p:cNvSpPr txBox="1"/>
          <p:nvPr/>
        </p:nvSpPr>
        <p:spPr>
          <a:xfrm>
            <a:off x="548640" y="1463040"/>
            <a:ext cx="2377440" cy="1280160"/>
          </a:xfrm>
          <a:prstGeom prst="rect">
            <a:avLst/>
          </a:prstGeom>
          <a:noFill/>
          <a:ln/>
        </p:spPr>
        <p:txBody>
          <a:bodyPr wrap="square" lIns="0" tIns="0" rIns="0" bIns="0" rtlCol="0" anchor="ctr"/>
          <a:lstStyle/>
          <a:p>
            <a:pPr algn="ctr" indent="0" marL="0">
              <a:buNone/>
            </a:pPr>
            <a:r>
              <a:rPr lang="en-US" sz="1600" b="1" dirty="0">
                <a:solidFill>
                  <a:schemeClr val="tx2"/>
                </a:solidFill>
              </a:rPr>
              <a:t>Páginas</a:t>
            </a:r>
            <a:endParaRPr lang="en-US" sz="1600" dirty="0"/>
          </a:p>
          <a:p>
            <a:pPr algn="ctr" indent="0" marL="0">
              <a:buNone/>
            </a:pPr>
            <a:r>
              <a:rPr lang="en-US" sz="1600" b="1" dirty="0">
                <a:solidFill>
                  <a:schemeClr val="tx2"/>
                </a:solidFill>
              </a:rPr>
              <a:t>public/</a:t>
            </a:r>
            <a:endParaRPr lang="en-US" sz="1600" dirty="0"/>
          </a:p>
        </p:txBody>
      </p:sp>
      <p:sp>
        <p:nvSpPr>
          <p:cNvPr id="5" name="Flecha 1"/>
          <p:cNvSpPr/>
          <p:nvPr/>
        </p:nvSpPr>
        <p:spPr>
          <a:xfrm>
            <a:off x="3017520" y="1920240"/>
            <a:ext cx="365760" cy="365760"/>
          </a:xfrm>
          <a:prstGeom prst="rightArrow">
            <a:avLst/>
          </a:prstGeom>
          <a:solidFill>
            <a:schemeClr val="accent2"/>
          </a:solidFill>
          <a:ln/>
        </p:spPr>
      </p:sp>
      <p:sp>
        <p:nvSpPr>
          <p:cNvPr id="6" name="Capa 2"/>
          <p:cNvSpPr/>
          <p:nvPr/>
        </p:nvSpPr>
        <p:spPr>
          <a:xfrm>
            <a:off x="3429000" y="1463040"/>
            <a:ext cx="2377440" cy="1280160"/>
          </a:xfrm>
          <a:prstGeom prst="roundRect">
            <a:avLst>
              <a:gd name="adj" fmla="val 8571"/>
            </a:avLst>
          </a:prstGeom>
          <a:solidFill>
            <a:schemeClr val="tx2"/>
          </a:solidFill>
          <a:ln/>
        </p:spPr>
      </p:sp>
      <p:sp>
        <p:nvSpPr>
          <p:cNvPr id="7" name="Capa texto 2"/>
          <p:cNvSpPr txBox="1"/>
          <p:nvPr/>
        </p:nvSpPr>
        <p:spPr>
          <a:xfrm>
            <a:off x="3429000" y="1463040"/>
            <a:ext cx="2377440" cy="1280160"/>
          </a:xfrm>
          <a:prstGeom prst="rect">
            <a:avLst/>
          </a:prstGeom>
          <a:noFill/>
          <a:ln/>
        </p:spPr>
        <p:txBody>
          <a:bodyPr wrap="square" lIns="0" tIns="0" rIns="0" bIns="0" rtlCol="0" anchor="ctr"/>
          <a:lstStyle/>
          <a:p>
            <a:pPr algn="ctr" indent="0" marL="0">
              <a:buNone/>
            </a:pPr>
            <a:r>
              <a:rPr lang="en-US" sz="1600" b="1" dirty="0">
                <a:solidFill>
                  <a:schemeClr val="bg1"/>
                </a:solidFill>
              </a:rPr>
              <a:t>Repositorios</a:t>
            </a:r>
            <a:endParaRPr lang="en-US" sz="1600" dirty="0"/>
          </a:p>
          <a:p>
            <a:pPr algn="ctr" indent="0" marL="0">
              <a:buNone/>
            </a:pPr>
            <a:r>
              <a:rPr lang="en-US" sz="1600" b="1" dirty="0">
                <a:solidFill>
                  <a:schemeClr val="bg1"/>
                </a:solidFill>
              </a:rPr>
              <a:t>Producto · Socio</a:t>
            </a:r>
            <a:endParaRPr lang="en-US" sz="1600" dirty="0"/>
          </a:p>
        </p:txBody>
      </p:sp>
      <p:sp>
        <p:nvSpPr>
          <p:cNvPr id="8" name="Flecha 2"/>
          <p:cNvSpPr/>
          <p:nvPr/>
        </p:nvSpPr>
        <p:spPr>
          <a:xfrm>
            <a:off x="5897880" y="1920240"/>
            <a:ext cx="365760" cy="365760"/>
          </a:xfrm>
          <a:prstGeom prst="rightArrow">
            <a:avLst/>
          </a:prstGeom>
          <a:solidFill>
            <a:schemeClr val="accent2"/>
          </a:solidFill>
          <a:ln/>
        </p:spPr>
      </p:sp>
      <p:sp>
        <p:nvSpPr>
          <p:cNvPr id="9" name="Capa 3"/>
          <p:cNvSpPr/>
          <p:nvPr/>
        </p:nvSpPr>
        <p:spPr>
          <a:xfrm>
            <a:off x="6309360" y="1463040"/>
            <a:ext cx="2377440" cy="1280160"/>
          </a:xfrm>
          <a:prstGeom prst="roundRect">
            <a:avLst>
              <a:gd name="adj" fmla="val 8571"/>
            </a:avLst>
          </a:prstGeom>
          <a:solidFill>
            <a:schemeClr val="bg2"/>
          </a:solidFill>
          <a:ln/>
        </p:spPr>
      </p:sp>
      <p:sp>
        <p:nvSpPr>
          <p:cNvPr id="10" name="Capa texto 3"/>
          <p:cNvSpPr txBox="1"/>
          <p:nvPr/>
        </p:nvSpPr>
        <p:spPr>
          <a:xfrm>
            <a:off x="6309360" y="1463040"/>
            <a:ext cx="2377440" cy="1280160"/>
          </a:xfrm>
          <a:prstGeom prst="rect">
            <a:avLst/>
          </a:prstGeom>
          <a:noFill/>
          <a:ln/>
        </p:spPr>
        <p:txBody>
          <a:bodyPr wrap="square" lIns="0" tIns="0" rIns="0" bIns="0" rtlCol="0" anchor="ctr"/>
          <a:lstStyle/>
          <a:p>
            <a:pPr algn="ctr" indent="0" marL="0">
              <a:buNone/>
            </a:pPr>
            <a:r>
              <a:rPr lang="en-US" sz="1600" b="1" dirty="0">
                <a:solidFill>
                  <a:schemeClr val="tx2"/>
                </a:solidFill>
              </a:rPr>
              <a:t>PDO</a:t>
            </a:r>
            <a:endParaRPr lang="en-US" sz="1600" dirty="0"/>
          </a:p>
          <a:p>
            <a:pPr algn="ctr" indent="0" marL="0">
              <a:buNone/>
            </a:pPr>
            <a:r>
              <a:rPr lang="en-US" sz="1600" b="1" dirty="0">
                <a:solidFill>
                  <a:schemeClr val="tx2"/>
                </a:solidFill>
              </a:rPr>
              <a:t>consultas preparadas</a:t>
            </a:r>
            <a:endParaRPr lang="en-US" sz="1600" dirty="0"/>
          </a:p>
        </p:txBody>
      </p:sp>
      <p:sp>
        <p:nvSpPr>
          <p:cNvPr id="11" name="Flecha 3"/>
          <p:cNvSpPr/>
          <p:nvPr/>
        </p:nvSpPr>
        <p:spPr>
          <a:xfrm>
            <a:off x="8778240" y="1920240"/>
            <a:ext cx="365760" cy="365760"/>
          </a:xfrm>
          <a:prstGeom prst="rightArrow">
            <a:avLst/>
          </a:prstGeom>
          <a:solidFill>
            <a:schemeClr val="accent2"/>
          </a:solidFill>
          <a:ln/>
        </p:spPr>
      </p:sp>
      <p:sp>
        <p:nvSpPr>
          <p:cNvPr id="12" name="Capa 4"/>
          <p:cNvSpPr/>
          <p:nvPr/>
        </p:nvSpPr>
        <p:spPr>
          <a:xfrm>
            <a:off x="9189720" y="1463040"/>
            <a:ext cx="2377440" cy="1280160"/>
          </a:xfrm>
          <a:prstGeom prst="roundRect">
            <a:avLst>
              <a:gd name="adj" fmla="val 8571"/>
            </a:avLst>
          </a:prstGeom>
          <a:solidFill>
            <a:schemeClr val="bg2"/>
          </a:solidFill>
          <a:ln/>
        </p:spPr>
      </p:sp>
      <p:sp>
        <p:nvSpPr>
          <p:cNvPr id="13" name="Capa texto 4"/>
          <p:cNvSpPr txBox="1"/>
          <p:nvPr/>
        </p:nvSpPr>
        <p:spPr>
          <a:xfrm>
            <a:off x="9189720" y="1463040"/>
            <a:ext cx="2377440" cy="1280160"/>
          </a:xfrm>
          <a:prstGeom prst="rect">
            <a:avLst/>
          </a:prstGeom>
          <a:noFill/>
          <a:ln/>
        </p:spPr>
        <p:txBody>
          <a:bodyPr wrap="square" lIns="0" tIns="0" rIns="0" bIns="0" rtlCol="0" anchor="ctr"/>
          <a:lstStyle/>
          <a:p>
            <a:pPr algn="ctr" indent="0" marL="0">
              <a:buNone/>
            </a:pPr>
            <a:r>
              <a:rPr lang="en-US" sz="1600" b="1" dirty="0">
                <a:solidFill>
                  <a:schemeClr val="tx2"/>
                </a:solidFill>
              </a:rPr>
              <a:t>MySQL</a:t>
            </a:r>
            <a:endParaRPr lang="en-US" sz="1600" dirty="0"/>
          </a:p>
          <a:p>
            <a:pPr algn="ctr" indent="0" marL="0">
              <a:buNone/>
            </a:pPr>
            <a:r>
              <a:rPr lang="en-US" sz="1600" b="1" dirty="0">
                <a:solidFill>
                  <a:schemeClr val="tx2"/>
                </a:solidFill>
              </a:rPr>
              <a:t>InnoDB</a:t>
            </a:r>
            <a:endParaRPr lang="en-US" sz="1600" dirty="0"/>
          </a:p>
        </p:txBody>
      </p:sp>
      <p:sp>
        <p:nvSpPr>
          <p:cNvPr id="14" name="Cifra ROLLBACK"/>
          <p:cNvSpPr txBox="1"/>
          <p:nvPr/>
        </p:nvSpPr>
        <p:spPr>
          <a:xfrm>
            <a:off x="548640" y="3246120"/>
            <a:ext cx="3383280"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ROLLBACK</a:t>
            </a:r>
            <a:endParaRPr lang="en-US" sz="4000" dirty="0"/>
          </a:p>
        </p:txBody>
      </p:sp>
      <p:sp>
        <p:nvSpPr>
          <p:cNvPr id="15" name="Etiqueta ROLLBACK"/>
          <p:cNvSpPr txBox="1"/>
          <p:nvPr/>
        </p:nvSpPr>
        <p:spPr>
          <a:xfrm>
            <a:off x="548640" y="4160520"/>
            <a:ext cx="3383280" cy="640080"/>
          </a:xfrm>
          <a:prstGeom prst="rect">
            <a:avLst/>
          </a:prstGeom>
          <a:noFill/>
          <a:ln/>
        </p:spPr>
        <p:txBody>
          <a:bodyPr wrap="square" lIns="0" tIns="0" rIns="0" bIns="0" rtlCol="0" anchor="t"/>
          <a:lstStyle/>
          <a:p>
            <a:pPr indent="0" marL="0">
              <a:buNone/>
            </a:pPr>
            <a:r>
              <a:rPr lang="en-US" sz="1400" dirty="0">
                <a:solidFill>
                  <a:schemeClr val="accent6"/>
                </a:solidFill>
              </a:rPr>
              <a:t>Prenda y tallas se guardan en una transacción: si algo falla, no queda nada a medias.</a:t>
            </a:r>
            <a:endParaRPr lang="en-US" sz="1400" dirty="0"/>
          </a:p>
        </p:txBody>
      </p:sp>
      <p:sp>
        <p:nvSpPr>
          <p:cNvPr id="16" name="Cifra 8 · 10 · 5"/>
          <p:cNvSpPr txBox="1"/>
          <p:nvPr/>
        </p:nvSpPr>
        <p:spPr>
          <a:xfrm>
            <a:off x="4343400" y="3246120"/>
            <a:ext cx="3383280"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8 · 10 · 5</a:t>
            </a:r>
            <a:endParaRPr lang="en-US" sz="4000" dirty="0"/>
          </a:p>
        </p:txBody>
      </p:sp>
      <p:sp>
        <p:nvSpPr>
          <p:cNvPr id="17" name="Etiqueta 8 · 10 · 5"/>
          <p:cNvSpPr txBox="1"/>
          <p:nvPr/>
        </p:nvSpPr>
        <p:spPr>
          <a:xfrm>
            <a:off x="4343400" y="4160520"/>
            <a:ext cx="3383280" cy="640080"/>
          </a:xfrm>
          <a:prstGeom prst="rect">
            <a:avLst/>
          </a:prstGeom>
          <a:noFill/>
          <a:ln/>
        </p:spPr>
        <p:txBody>
          <a:bodyPr wrap="square" lIns="0" tIns="0" rIns="0" bIns="0" rtlCol="0" anchor="t"/>
          <a:lstStyle/>
          <a:p>
            <a:pPr indent="0" marL="0">
              <a:buNone/>
            </a:pPr>
            <a:r>
              <a:rPr lang="en-US" sz="1400" dirty="0">
                <a:solidFill>
                  <a:schemeClr val="accent6"/>
                </a:solidFill>
              </a:rPr>
              <a:t>Prendas por página en la tienda, la gestión y los socios (LIMIT/OFFSET como enteros).</a:t>
            </a:r>
            <a:endParaRPr lang="en-US" sz="1400" dirty="0"/>
          </a:p>
        </p:txBody>
      </p:sp>
      <p:sp>
        <p:nvSpPr>
          <p:cNvPr id="18" name="Cifra «abc», -3, 999"/>
          <p:cNvSpPr txBox="1"/>
          <p:nvPr/>
        </p:nvSpPr>
        <p:spPr>
          <a:xfrm>
            <a:off x="8138160" y="3246120"/>
            <a:ext cx="3474720" cy="86868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«abc», -3, 999</a:t>
            </a:r>
            <a:endParaRPr lang="en-US" sz="4000" dirty="0"/>
          </a:p>
        </p:txBody>
      </p:sp>
      <p:sp>
        <p:nvSpPr>
          <p:cNvPr id="19" name="Etiqueta «abc», -3, 999"/>
          <p:cNvSpPr txBox="1"/>
          <p:nvPr/>
        </p:nvSpPr>
        <p:spPr>
          <a:xfrm>
            <a:off x="8138160" y="4160520"/>
            <a:ext cx="3474720" cy="640080"/>
          </a:xfrm>
          <a:prstGeom prst="rect">
            <a:avLst/>
          </a:prstGeom>
          <a:noFill/>
          <a:ln/>
        </p:spPr>
        <p:txBody>
          <a:bodyPr wrap="square" lIns="0" tIns="0" rIns="0" bIns="0" rtlCol="0" anchor="t"/>
          <a:lstStyle/>
          <a:p>
            <a:pPr indent="0" marL="0">
              <a:buNone/>
            </a:pPr>
            <a:r>
              <a:rPr lang="en-US" sz="1400" dirty="0">
                <a:solidFill>
                  <a:schemeClr val="accent6"/>
                </a:solidFill>
              </a:rPr>
              <a:t>Páginas inválidas en la URL se corrigen solas con la clase Pagina.</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La tienda sobre MySQL, con su nuevo diseño</a:t>
            </a:r>
            <a:endParaRPr lang="en-US" sz="3000" dirty="0"/>
          </a:p>
        </p:txBody>
      </p:sp>
      <p:sp>
        <p:nvSpPr>
          <p:cNvPr id="3" name="Marco Tienda paginada"/>
          <p:cNvSpPr/>
          <p:nvPr/>
        </p:nvSpPr>
        <p:spPr>
          <a:xfrm>
            <a:off x="512064" y="1289304"/>
            <a:ext cx="5422392" cy="3502152"/>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4" name="Tienda paginada" descr="Tienda paginada">    </p:cNvPr>
          <p:cNvPicPr>
            <a:picLocks noChangeAspect="1"/>
          </p:cNvPicPr>
          <p:nvPr/>
        </p:nvPicPr>
        <p:blipFill>
          <a:blip r:embed="rId1"/>
          <a:stretch>
            <a:fillRect/>
          </a:stretch>
        </p:blipFill>
        <p:spPr>
          <a:xfrm>
            <a:off x="548640" y="1325880"/>
            <a:ext cx="5349240" cy="3429000"/>
          </a:xfrm>
          <a:prstGeom prst="rect">
            <a:avLst/>
          </a:prstGeom>
        </p:spPr>
      </p:pic>
      <p:sp>
        <p:nvSpPr>
          <p:cNvPr id="5" name="Marco Gestión de prendas"/>
          <p:cNvSpPr/>
          <p:nvPr/>
        </p:nvSpPr>
        <p:spPr>
          <a:xfrm>
            <a:off x="6254496" y="1289304"/>
            <a:ext cx="5422392" cy="3081528"/>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6" name="Gestión de prendas" descr="Gestión de prendas">    </p:cNvPr>
          <p:cNvPicPr>
            <a:picLocks noChangeAspect="1"/>
          </p:cNvPicPr>
          <p:nvPr/>
        </p:nvPicPr>
        <p:blipFill>
          <a:blip r:embed="rId2"/>
          <a:stretch>
            <a:fillRect/>
          </a:stretch>
        </p:blipFill>
        <p:spPr>
          <a:xfrm>
            <a:off x="6291072" y="1325880"/>
            <a:ext cx="5349240" cy="3008376"/>
          </a:xfrm>
          <a:prstGeom prst="rect">
            <a:avLst/>
          </a:prstGeom>
        </p:spPr>
      </p:pic>
      <p:sp>
        <p:nvSpPr>
          <p:cNvPr id="7" name="Pie tienda"/>
          <p:cNvSpPr txBox="1"/>
          <p:nvPr/>
        </p:nvSpPr>
        <p:spPr>
          <a:xfrm>
            <a:off x="548640" y="4937760"/>
            <a:ext cx="5349240" cy="365760"/>
          </a:xfrm>
          <a:prstGeom prst="rect">
            <a:avLst/>
          </a:prstGeom>
          <a:noFill/>
          <a:ln/>
        </p:spPr>
        <p:txBody>
          <a:bodyPr wrap="square" lIns="0" tIns="0" rIns="0" bIns="0" rtlCol="0" anchor="ctr"/>
          <a:lstStyle/>
          <a:p>
            <a:pPr indent="0" marL="0">
              <a:buNone/>
            </a:pPr>
            <a:r>
              <a:rPr lang="en-US" sz="1400" dirty="0">
                <a:solidFill>
                  <a:schemeClr val="accent6"/>
                </a:solidFill>
              </a:rPr>
              <a:t>Tienda: 14 prendas en páginas de 8, con filtros GET</a:t>
            </a:r>
            <a:endParaRPr lang="en-US" sz="1400" dirty="0"/>
          </a:p>
        </p:txBody>
      </p:sp>
      <p:sp>
        <p:nvSpPr>
          <p:cNvPr id="8" name="Pie gestión"/>
          <p:cNvSpPr txBox="1"/>
          <p:nvPr/>
        </p:nvSpPr>
        <p:spPr>
          <a:xfrm>
            <a:off x="6291072" y="4937760"/>
            <a:ext cx="5349240" cy="365760"/>
          </a:xfrm>
          <a:prstGeom prst="rect">
            <a:avLst/>
          </a:prstGeom>
          <a:noFill/>
          <a:ln/>
        </p:spPr>
        <p:txBody>
          <a:bodyPr wrap="square" lIns="0" tIns="0" rIns="0" bIns="0" rtlCol="0" anchor="ctr"/>
          <a:lstStyle/>
          <a:p>
            <a:pPr indent="0" marL="0">
              <a:buNone/>
            </a:pPr>
            <a:r>
              <a:rPr lang="en-US" sz="1400" dirty="0">
                <a:solidFill>
                  <a:schemeClr val="accent6"/>
                </a:solidFill>
              </a:rPr>
              <a:t>Gestión: 157 unidades · Bs 19.538,50 calculado por MySQL</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Nuevo módulo de socios</a:t>
            </a:r>
            <a:endParaRPr lang="en-US" sz="3000" dirty="0"/>
          </a:p>
        </p:txBody>
      </p:sp>
      <p:sp>
        <p:nvSpPr>
          <p:cNvPr id="3" name="Marco Listado de socios"/>
          <p:cNvSpPr/>
          <p:nvPr/>
        </p:nvSpPr>
        <p:spPr>
          <a:xfrm>
            <a:off x="512064" y="1289304"/>
            <a:ext cx="6108192" cy="2953512"/>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4" name="Listado de socios" descr="Listado de socios">    </p:cNvPr>
          <p:cNvPicPr>
            <a:picLocks noChangeAspect="1"/>
          </p:cNvPicPr>
          <p:nvPr/>
        </p:nvPicPr>
        <p:blipFill>
          <a:blip r:embed="rId1"/>
          <a:stretch>
            <a:fillRect/>
          </a:stretch>
        </p:blipFill>
        <p:spPr>
          <a:xfrm>
            <a:off x="548640" y="1325880"/>
            <a:ext cx="6035040" cy="2880360"/>
          </a:xfrm>
          <a:prstGeom prst="rect">
            <a:avLst/>
          </a:prstGeom>
        </p:spPr>
      </p:pic>
      <p:sp>
        <p:nvSpPr>
          <p:cNvPr id="5" name="Marco Formulario de socio con errores"/>
          <p:cNvSpPr/>
          <p:nvPr/>
        </p:nvSpPr>
        <p:spPr>
          <a:xfrm>
            <a:off x="7278624" y="1289304"/>
            <a:ext cx="4398264" cy="2907792"/>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6" name="Formulario de socio con errores" descr="Formulario de socio con errores">    </p:cNvPr>
          <p:cNvPicPr>
            <a:picLocks noChangeAspect="1"/>
          </p:cNvPicPr>
          <p:nvPr/>
        </p:nvPicPr>
        <p:blipFill>
          <a:blip r:embed="rId2"/>
          <a:stretch>
            <a:fillRect/>
          </a:stretch>
        </p:blipFill>
        <p:spPr>
          <a:xfrm>
            <a:off x="7315200" y="1325880"/>
            <a:ext cx="4325112" cy="2834640"/>
          </a:xfrm>
          <a:prstGeom prst="rect">
            <a:avLst/>
          </a:prstGeom>
        </p:spPr>
      </p:pic>
      <p:sp>
        <p:nvSpPr>
          <p:cNvPr id="7" name="Pie socios"/>
          <p:cNvSpPr txBox="1"/>
          <p:nvPr/>
        </p:nvSpPr>
        <p:spPr>
          <a:xfrm>
            <a:off x="548640" y="4526280"/>
            <a:ext cx="6035040" cy="731520"/>
          </a:xfrm>
          <a:prstGeom prst="rect">
            <a:avLst/>
          </a:prstGeom>
          <a:noFill/>
          <a:ln/>
        </p:spPr>
        <p:txBody>
          <a:bodyPr wrap="square" lIns="0" tIns="0" rIns="0" bIns="0" rtlCol="0" anchor="t"/>
          <a:lstStyle/>
          <a:p>
            <a:pPr indent="0" marL="0">
              <a:buNone/>
            </a:pPr>
            <a:r>
              <a:rPr lang="en-US" sz="1500" dirty="0">
                <a:solidFill>
                  <a:schemeClr val="accent6"/>
                </a:solidFill>
              </a:rPr>
              <a:t>Paginación de 5 en 5 y cantidad de prendas por socio. «Eliminar» se desactiva si el socio tiene prendas.</a:t>
            </a:r>
            <a:endParaRPr lang="en-US" sz="1500" dirty="0"/>
          </a:p>
        </p:txBody>
      </p:sp>
      <p:sp>
        <p:nvSpPr>
          <p:cNvPr id="8" name="Pie formulario"/>
          <p:cNvSpPr txBox="1"/>
          <p:nvPr/>
        </p:nvSpPr>
        <p:spPr>
          <a:xfrm>
            <a:off x="7315200" y="4526280"/>
            <a:ext cx="4325112" cy="731520"/>
          </a:xfrm>
          <a:prstGeom prst="rect">
            <a:avLst/>
          </a:prstGeom>
          <a:noFill/>
          <a:ln/>
        </p:spPr>
        <p:txBody>
          <a:bodyPr wrap="square" lIns="0" tIns="0" rIns="0" bIns="0" rtlCol="0" anchor="t"/>
          <a:lstStyle/>
          <a:p>
            <a:pPr indent="0" marL="0">
              <a:buNone/>
            </a:pPr>
            <a:r>
              <a:rPr lang="en-US" sz="1500" dirty="0">
                <a:solidFill>
                  <a:schemeClr val="accent6"/>
                </a:solidFill>
              </a:rPr>
              <a:t>Respuesta 422 dentro del modal: CI repetido, celular inválido y fecha futura, con el mensaje junto a cada campo.</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Nueva interfaz: modales, avisos y paleta pastel</a:t>
            </a:r>
            <a:endParaRPr lang="en-US" sz="3000" dirty="0"/>
          </a:p>
        </p:txBody>
      </p:sp>
      <p:sp>
        <p:nvSpPr>
          <p:cNvPr id="3" name="Marco Detalle de la prenda en un modal"/>
          <p:cNvSpPr/>
          <p:nvPr/>
        </p:nvSpPr>
        <p:spPr>
          <a:xfrm>
            <a:off x="512064" y="1289304"/>
            <a:ext cx="3593592" cy="2286000"/>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4" name="Detalle de la prenda en un modal" descr="Detalle de la prenda en un modal">    </p:cNvPr>
          <p:cNvPicPr>
            <a:picLocks noChangeAspect="1"/>
          </p:cNvPicPr>
          <p:nvPr/>
        </p:nvPicPr>
        <p:blipFill>
          <a:blip r:embed="rId1"/>
          <a:stretch>
            <a:fillRect/>
          </a:stretch>
        </p:blipFill>
        <p:spPr>
          <a:xfrm>
            <a:off x="548640" y="1325880"/>
            <a:ext cx="3520440" cy="2212848"/>
          </a:xfrm>
          <a:prstGeom prst="rect">
            <a:avLst/>
          </a:prstGeom>
        </p:spPr>
      </p:pic>
      <p:sp>
        <p:nvSpPr>
          <p:cNvPr id="5" name="Pie Detalle de la prenda en un modal"/>
          <p:cNvSpPr txBox="1"/>
          <p:nvPr/>
        </p:nvSpPr>
        <p:spPr>
          <a:xfrm>
            <a:off x="548640" y="3639312"/>
            <a:ext cx="3520440" cy="365760"/>
          </a:xfrm>
          <a:prstGeom prst="rect">
            <a:avLst/>
          </a:prstGeom>
          <a:noFill/>
          <a:ln/>
        </p:spPr>
        <p:txBody>
          <a:bodyPr wrap="square" lIns="0" tIns="0" rIns="0" bIns="0" rtlCol="0" anchor="ctr"/>
          <a:lstStyle/>
          <a:p>
            <a:pPr indent="0" marL="0">
              <a:buNone/>
            </a:pPr>
            <a:r>
              <a:rPr lang="en-US" sz="1400" dirty="0">
                <a:solidFill>
                  <a:schemeClr val="accent6"/>
                </a:solidFill>
              </a:rPr>
              <a:t>Detalle de la prenda en un modal</a:t>
            </a:r>
            <a:endParaRPr lang="en-US" sz="1400" dirty="0"/>
          </a:p>
        </p:txBody>
      </p:sp>
      <p:sp>
        <p:nvSpPr>
          <p:cNvPr id="6" name="Marco Confirmación antes de eliminar"/>
          <p:cNvSpPr/>
          <p:nvPr/>
        </p:nvSpPr>
        <p:spPr>
          <a:xfrm>
            <a:off x="4288536" y="1289304"/>
            <a:ext cx="3593592" cy="2286000"/>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7" name="Confirmación antes de eliminar" descr="Confirmación antes de eliminar">    </p:cNvPr>
          <p:cNvPicPr>
            <a:picLocks noChangeAspect="1"/>
          </p:cNvPicPr>
          <p:nvPr/>
        </p:nvPicPr>
        <p:blipFill>
          <a:blip r:embed="rId2"/>
          <a:stretch>
            <a:fillRect/>
          </a:stretch>
        </p:blipFill>
        <p:spPr>
          <a:xfrm>
            <a:off x="4325112" y="1325880"/>
            <a:ext cx="3520440" cy="2212848"/>
          </a:xfrm>
          <a:prstGeom prst="rect">
            <a:avLst/>
          </a:prstGeom>
        </p:spPr>
      </p:pic>
      <p:sp>
        <p:nvSpPr>
          <p:cNvPr id="8" name="Pie Confirmación antes de eliminar"/>
          <p:cNvSpPr txBox="1"/>
          <p:nvPr/>
        </p:nvSpPr>
        <p:spPr>
          <a:xfrm>
            <a:off x="4325112" y="3639312"/>
            <a:ext cx="3520440" cy="365760"/>
          </a:xfrm>
          <a:prstGeom prst="rect">
            <a:avLst/>
          </a:prstGeom>
          <a:noFill/>
          <a:ln/>
        </p:spPr>
        <p:txBody>
          <a:bodyPr wrap="square" lIns="0" tIns="0" rIns="0" bIns="0" rtlCol="0" anchor="ctr"/>
          <a:lstStyle/>
          <a:p>
            <a:pPr indent="0" marL="0">
              <a:buNone/>
            </a:pPr>
            <a:r>
              <a:rPr lang="en-US" sz="1400" dirty="0">
                <a:solidFill>
                  <a:schemeClr val="accent6"/>
                </a:solidFill>
              </a:rPr>
              <a:t>Confirmación antes de eliminar</a:t>
            </a:r>
            <a:endParaRPr lang="en-US" sz="1400" dirty="0"/>
          </a:p>
        </p:txBody>
      </p:sp>
      <p:sp>
        <p:nvSpPr>
          <p:cNvPr id="9" name="Marco Aviso en la esquina superior derecha"/>
          <p:cNvSpPr/>
          <p:nvPr/>
        </p:nvSpPr>
        <p:spPr>
          <a:xfrm>
            <a:off x="8065008" y="1289304"/>
            <a:ext cx="3593592" cy="2286000"/>
          </a:xfrm>
          <a:prstGeom prst="rect">
            <a:avLst/>
          </a:prstGeom>
          <a:solidFill>
            <a:schemeClr val="bg1"/>
          </a:solidFill>
          <a:ln w="12700">
            <a:solidFill>
              <a:srgbClr val="F8EEF0"/>
            </a:solidFill>
            <a:prstDash val="solid"/>
          </a:ln>
          <a:effectLst>
            <a:outerShdw sx="100000" sy="100000" kx="0" ky="0" algn="bl" rotWithShape="0" blurRad="101600" dist="25400" dir="5400000">
              <a:srgbClr val="000000">
                <a:alpha val="18000"/>
              </a:srgbClr>
            </a:outerShdw>
          </a:effectLst>
        </p:spPr>
      </p:sp>
      <p:pic>
        <p:nvPicPr>
          <p:cNvPr id="10" name="Aviso en la esquina superior derecha" descr="Aviso en la esquina superior derecha">    </p:cNvPr>
          <p:cNvPicPr>
            <a:picLocks noChangeAspect="1"/>
          </p:cNvPicPr>
          <p:nvPr/>
        </p:nvPicPr>
        <p:blipFill>
          <a:blip r:embed="rId3"/>
          <a:stretch>
            <a:fillRect/>
          </a:stretch>
        </p:blipFill>
        <p:spPr>
          <a:xfrm>
            <a:off x="8101584" y="1325880"/>
            <a:ext cx="3520440" cy="2212848"/>
          </a:xfrm>
          <a:prstGeom prst="rect">
            <a:avLst/>
          </a:prstGeom>
        </p:spPr>
      </p:pic>
      <p:sp>
        <p:nvSpPr>
          <p:cNvPr id="11" name="Pie Aviso en la esquina superior derecha"/>
          <p:cNvSpPr txBox="1"/>
          <p:nvPr/>
        </p:nvSpPr>
        <p:spPr>
          <a:xfrm>
            <a:off x="8101584" y="3639312"/>
            <a:ext cx="3520440" cy="365760"/>
          </a:xfrm>
          <a:prstGeom prst="rect">
            <a:avLst/>
          </a:prstGeom>
          <a:noFill/>
          <a:ln/>
        </p:spPr>
        <p:txBody>
          <a:bodyPr wrap="square" lIns="0" tIns="0" rIns="0" bIns="0" rtlCol="0" anchor="ctr"/>
          <a:lstStyle/>
          <a:p>
            <a:pPr indent="0" marL="0">
              <a:buNone/>
            </a:pPr>
            <a:r>
              <a:rPr lang="en-US" sz="1400" dirty="0">
                <a:solidFill>
                  <a:schemeClr val="accent6"/>
                </a:solidFill>
              </a:rPr>
              <a:t>Aviso en la esquina superior derecha</a:t>
            </a:r>
            <a:endParaRPr lang="en-US" sz="1400" dirty="0"/>
          </a:p>
        </p:txBody>
      </p:sp>
      <p:sp>
        <p:nvSpPr>
          <p:cNvPr id="12" name="Cómo funciona la interfaz (fondo)"/>
          <p:cNvSpPr/>
          <p:nvPr/>
        </p:nvSpPr>
        <p:spPr>
          <a:xfrm>
            <a:off x="548640" y="4206240"/>
            <a:ext cx="11094415" cy="1463040"/>
          </a:xfrm>
          <a:prstGeom prst="roundRect">
            <a:avLst>
              <a:gd name="adj" fmla="val 7500"/>
            </a:avLst>
          </a:prstGeom>
          <a:solidFill>
            <a:schemeClr val="bg2"/>
          </a:solidFill>
          <a:ln/>
        </p:spPr>
      </p:sp>
      <p:sp>
        <p:nvSpPr>
          <p:cNvPr id="13" name="Cómo funciona la interfaz (título)"/>
          <p:cNvSpPr txBox="1"/>
          <p:nvPr/>
        </p:nvSpPr>
        <p:spPr>
          <a:xfrm>
            <a:off x="777240" y="4370832"/>
            <a:ext cx="10637215"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Sin cambiar de página y sin perder la seguridad</a:t>
            </a:r>
            <a:endParaRPr lang="en-US" sz="2000" dirty="0"/>
          </a:p>
        </p:txBody>
      </p:sp>
      <p:sp>
        <p:nvSpPr>
          <p:cNvPr id="14" name="Cómo funciona la interfaz (texto)"/>
          <p:cNvSpPr txBox="1"/>
          <p:nvPr/>
        </p:nvSpPr>
        <p:spPr>
          <a:xfrm>
            <a:off x="777240" y="4846320"/>
            <a:ext cx="10637215" cy="685800"/>
          </a:xfrm>
          <a:prstGeom prst="rect">
            <a:avLst/>
          </a:prstGeom>
          <a:noFill/>
          <a:ln/>
        </p:spPr>
        <p:txBody>
          <a:bodyPr wrap="square" lIns="0" tIns="0" rIns="0" bIns="0" rtlCol="0" anchor="t"/>
          <a:lstStyle/>
          <a:p>
            <a:pPr indent="0" marL="0">
              <a:buNone/>
            </a:pPr>
            <a:r>
              <a:rPr lang="en-US" sz="1700" dirty="0">
                <a:solidFill>
                  <a:schemeClr val="tx1"/>
                </a:solidFill>
              </a:rPr>
              <a:t>Bootstrap 5 guardado en el proyecto (funciona sin internet) · ver, registrar y editar en modales · confirmación y avisos al eliminar · los modales cargan las mismas páginas PHP con X-Parcial: 1, así la validación, el token CSRF y el PRG siguen en el servidor · sin JavaScript todo funciona como antes.</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13 ataques de inyección SQL, ninguno funcionó</a:t>
            </a:r>
            <a:endParaRPr lang="en-US" sz="3000" dirty="0"/>
          </a:p>
        </p:txBody>
      </p:sp>
      <p:sp>
        <p:nvSpPr>
          <p:cNvPr id="3" name="Cifra 13 / 0"/>
          <p:cNvSpPr txBox="1"/>
          <p:nvPr/>
        </p:nvSpPr>
        <p:spPr>
          <a:xfrm>
            <a:off x="548640" y="1371600"/>
            <a:ext cx="2926080" cy="868680"/>
          </a:xfrm>
          <a:prstGeom prst="rect">
            <a:avLst/>
          </a:prstGeom>
          <a:noFill/>
          <a:ln/>
        </p:spPr>
        <p:txBody>
          <a:bodyPr wrap="square" lIns="0" tIns="0" rIns="0" bIns="0" rtlCol="0" anchor="b"/>
          <a:lstStyle/>
          <a:p>
            <a:pPr indent="0" marL="0">
              <a:buNone/>
            </a:pPr>
            <a:r>
              <a:rPr lang="en-US" sz="6000" b="1" dirty="0">
                <a:solidFill>
                  <a:schemeClr val="accent5"/>
                </a:solidFill>
                <a:latin typeface="Cambria" pitchFamily="34" charset="0"/>
                <a:ea typeface="Cambria" pitchFamily="34" charset="-122"/>
                <a:cs typeface="Cambria" pitchFamily="34" charset="-120"/>
              </a:rPr>
              <a:t>13 / 0</a:t>
            </a:r>
            <a:endParaRPr lang="en-US" sz="6000" dirty="0"/>
          </a:p>
        </p:txBody>
      </p:sp>
      <p:sp>
        <p:nvSpPr>
          <p:cNvPr id="4" name="Etiqueta 13 / 0"/>
          <p:cNvSpPr txBox="1"/>
          <p:nvPr/>
        </p:nvSpPr>
        <p:spPr>
          <a:xfrm>
            <a:off x="548640" y="2286000"/>
            <a:ext cx="2926080" cy="640080"/>
          </a:xfrm>
          <a:prstGeom prst="rect">
            <a:avLst/>
          </a:prstGeom>
          <a:noFill/>
          <a:ln/>
        </p:spPr>
        <p:txBody>
          <a:bodyPr wrap="square" lIns="0" tIns="0" rIns="0" bIns="0" rtlCol="0" anchor="t"/>
          <a:lstStyle/>
          <a:p>
            <a:pPr indent="0" marL="0">
              <a:buNone/>
            </a:pPr>
            <a:r>
              <a:rPr lang="en-US" sz="1400" dirty="0">
                <a:solidFill>
                  <a:schemeClr val="accent6"/>
                </a:solidFill>
              </a:rPr>
              <a:t>ataques probados / ataques que funcionaron</a:t>
            </a:r>
            <a:endParaRPr lang="en-US" sz="1400" dirty="0"/>
          </a:p>
        </p:txBody>
      </p:sp>
      <p:graphicFrame>
        <p:nvGraphicFramePr>
          <p:cNvPr id="12" name="Tabla de ataques"/>
          <p:cNvGraphicFramePr>
            <a:graphicFrameLocks noGrp="1"/>
          </p:cNvGraphicFramePr>
          <p:nvPr>
            <p:extLst>
              <p:ext uri="{D42A27DB-BD31-4B8C-83A1-F6EECF244321}">
                <p14:modId xmlns:p14="http://schemas.microsoft.com/office/powerpoint/2010/main" val="1579011935"/>
              </p:ext>
            </p:extLst>
          </p:nvPr>
        </p:nvGraphicFramePr>
        <p:xfrm>
          <a:off x="3840480" y="1371600"/>
          <a:ext cx="7799832" cy="914400"/>
        </p:xfrm>
        <a:graphic>
          <a:graphicData uri="http://schemas.openxmlformats.org/drawingml/2006/table">
            <a:tbl>
              <a:tblPr/>
              <a:tblGrid>
                <a:gridCol w="2651760"/>
                <a:gridCol w="2377440"/>
                <a:gridCol w="2770632"/>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Ataque</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solidFill>
                      <a:srgbClr val="3B354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Dónde</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solidFill>
                      <a:srgbClr val="3B354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Resultado</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solidFill>
                      <a:srgbClr val="3B3542"/>
                    </a:solidFill>
                  </a:tcPr>
                </a:tc>
              </a:tr>
              <a:tr h="411480">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 OR '1'='1</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Búsqueda de la tienda</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0 prendas, sin error</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r>
              <a:tr h="411480">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POL-001' OR '1'='1</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Ficha de la prenda</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404</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r>
              <a:tr h="411480">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precio; DROP TABLE productos</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Orden</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Se ignora (lista blanca)</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r>
              <a:tr h="411480">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 UNION SELECT ...</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Búsqueda de socios</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0 socios</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r>
              <a:tr h="411480">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  y  _</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Búsqueda LIKE</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c>
                  <a:txBody>
                    <a:bodyPr/>
                    <a:lstStyle/>
                    <a:p>
                      <a:pPr indent="0" marL="0">
                        <a:buNone/>
                      </a:pPr>
                      <a:r>
                        <a:rPr lang="en-US" sz="1500" dirty="0">
                          <a:solidFill>
                            <a:srgbClr val="2D2A32"/>
                          </a:solidFill>
                          <a:latin typeface="Calibri" pitchFamily="34" charset="0"/>
                          <a:ea typeface="Calibri" pitchFamily="34" charset="-122"/>
                          <a:cs typeface="Calibri" pitchFamily="34" charset="-120"/>
                        </a:rPr>
                        <a:t>Se buscan literalmente</a:t>
                      </a:r>
                      <a:endParaRPr lang="en-US" sz="1500" dirty="0">
                        <a:latin typeface="Calibri" charset="0"/>
                        <a:ea typeface="Calibri" charset="0"/>
                        <a:cs typeface="Calibri" charset="0"/>
                      </a:endParaRPr>
                    </a:p>
                  </a:txBody>
                  <a:tcPr marL="91440" marR="91440" marT="45720" marB="45720" anchor="ctr">
                    <a:lnL w="12700" cap="flat" cmpd="sng" algn="ctr">
                      <a:solidFill>
                        <a:srgbClr val="E7D3C8"/>
                      </a:solidFill>
                      <a:prstDash val="solid"/>
                      <a:round/>
                      <a:headEnd type="none" w="med" len="med"/>
                      <a:tailEnd type="none" w="med" len="med"/>
                    </a:lnL>
                    <a:lnR w="12700" cap="flat" cmpd="sng" algn="ctr">
                      <a:solidFill>
                        <a:srgbClr val="E7D3C8"/>
                      </a:solidFill>
                      <a:prstDash val="solid"/>
                      <a:round/>
                      <a:headEnd type="none" w="med" len="med"/>
                      <a:tailEnd type="none" w="med" len="med"/>
                    </a:lnR>
                    <a:lnT w="12700" cap="flat" cmpd="sng" algn="ctr">
                      <a:solidFill>
                        <a:srgbClr val="E7D3C8"/>
                      </a:solidFill>
                      <a:prstDash val="solid"/>
                      <a:round/>
                      <a:headEnd type="none" w="med" len="med"/>
                      <a:tailEnd type="none" w="med" len="med"/>
                    </a:lnT>
                    <a:lnB w="12700" cap="flat" cmpd="sng" algn="ctr">
                      <a:solidFill>
                        <a:srgbClr val="E7D3C8"/>
                      </a:solidFill>
                      <a:prstDash val="solid"/>
                      <a:round/>
                      <a:headEnd type="none" w="med" len="med"/>
                      <a:tailEnd type="none" w="med" len="med"/>
                    </a:lnB>
                  </a:tcPr>
                </a:tc>
              </a:tr>
            </a:tbl>
          </a:graphicData>
        </a:graphic>
      </p:graphicFrame>
      <p:sp>
        <p:nvSpPr>
          <p:cNvPr id="6" name="Por qué resiste (fondo)"/>
          <p:cNvSpPr/>
          <p:nvPr/>
        </p:nvSpPr>
        <p:spPr>
          <a:xfrm>
            <a:off x="548640" y="4023360"/>
            <a:ext cx="11094415" cy="1600200"/>
          </a:xfrm>
          <a:prstGeom prst="roundRect">
            <a:avLst>
              <a:gd name="adj" fmla="val 6857"/>
            </a:avLst>
          </a:prstGeom>
          <a:solidFill>
            <a:schemeClr val="bg2"/>
          </a:solidFill>
          <a:ln/>
        </p:spPr>
      </p:sp>
      <p:sp>
        <p:nvSpPr>
          <p:cNvPr id="7" name="Por qué resiste (título)"/>
          <p:cNvSpPr txBox="1"/>
          <p:nvPr/>
        </p:nvSpPr>
        <p:spPr>
          <a:xfrm>
            <a:off x="777240" y="4187952"/>
            <a:ext cx="10637215"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Por qué resiste</a:t>
            </a:r>
            <a:endParaRPr lang="en-US" sz="2000" dirty="0"/>
          </a:p>
        </p:txBody>
      </p:sp>
      <p:sp>
        <p:nvSpPr>
          <p:cNvPr id="8" name="Por qué resiste (texto)"/>
          <p:cNvSpPr txBox="1"/>
          <p:nvPr/>
        </p:nvSpPr>
        <p:spPr>
          <a:xfrm>
            <a:off x="777240" y="4663440"/>
            <a:ext cx="10637215" cy="822960"/>
          </a:xfrm>
          <a:prstGeom prst="rect">
            <a:avLst/>
          </a:prstGeom>
          <a:noFill/>
          <a:ln/>
        </p:spPr>
        <p:txBody>
          <a:bodyPr wrap="square" lIns="0" tIns="0" rIns="0" bIns="0" rtlCol="0" anchor="t"/>
          <a:lstStyle/>
          <a:p>
            <a:pPr indent="0" marL="0">
              <a:buNone/>
            </a:pPr>
            <a:r>
              <a:rPr lang="en-US" sz="1700" dirty="0">
                <a:solidFill>
                  <a:schemeClr val="tx1"/>
                </a:solidFill>
              </a:rPr>
              <a:t>Consultas preparadas reales · lista blanca para ORDER BY · comodines % y _ escapados · enteros validados con PARAM_INT · una prueba que revisa el código fuente y falla si alguien concatena una variable en un SQL.</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57 de 57 pruebas en dos entornos distintos</a:t>
            </a:r>
            <a:endParaRPr lang="en-US" sz="3000" dirty="0"/>
          </a:p>
        </p:txBody>
      </p:sp>
      <p:graphicFrame>
        <p:nvGraphicFramePr>
          <p:cNvPr id="3" name="Gráfico de pruebas"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Entorno Windows"/>
          <p:cNvSpPr/>
          <p:nvPr/>
        </p:nvSpPr>
        <p:spPr>
          <a:xfrm>
            <a:off x="7680960" y="1371600"/>
            <a:ext cx="3959352" cy="2011680"/>
          </a:xfrm>
          <a:prstGeom prst="roundRect">
            <a:avLst>
              <a:gd name="adj" fmla="val 5455"/>
            </a:avLst>
          </a:prstGeom>
          <a:solidFill>
            <a:schemeClr val="bg2"/>
          </a:solidFill>
          <a:ln/>
        </p:spPr>
      </p:sp>
      <p:sp>
        <p:nvSpPr>
          <p:cNvPr id="5" name="Resultado Windows"/>
          <p:cNvSpPr txBox="1"/>
          <p:nvPr/>
        </p:nvSpPr>
        <p:spPr>
          <a:xfrm>
            <a:off x="7909560" y="1554480"/>
            <a:ext cx="356616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57/57</a:t>
            </a:r>
            <a:endParaRPr lang="en-US" sz="4800" dirty="0"/>
          </a:p>
        </p:txBody>
      </p:sp>
      <p:sp>
        <p:nvSpPr>
          <p:cNvPr id="6" name="Entorno texto Windows"/>
          <p:cNvSpPr txBox="1"/>
          <p:nvPr/>
        </p:nvSpPr>
        <p:spPr>
          <a:xfrm>
            <a:off x="7909560" y="2468880"/>
            <a:ext cx="3566160" cy="777240"/>
          </a:xfrm>
          <a:prstGeom prst="rect">
            <a:avLst/>
          </a:prstGeom>
          <a:noFill/>
          <a:ln/>
        </p:spPr>
        <p:txBody>
          <a:bodyPr wrap="square" lIns="0" tIns="0" rIns="0" bIns="0" rtlCol="0" anchor="t"/>
          <a:lstStyle/>
          <a:p>
            <a:pPr indent="0" marL="0">
              <a:buNone/>
            </a:pPr>
            <a:r>
              <a:rPr lang="en-US" sz="1600" b="1" dirty="0">
                <a:solidFill>
                  <a:schemeClr val="tx2"/>
                </a:solidFill>
              </a:rPr>
              <a:t>Windows</a:t>
            </a:r>
            <a:endParaRPr lang="en-US" sz="1600" dirty="0"/>
          </a:p>
          <a:p>
            <a:pPr indent="0" marL="0">
              <a:buNone/>
            </a:pPr>
            <a:r>
              <a:rPr lang="en-US" sz="1600" dirty="0">
                <a:solidFill>
                  <a:schemeClr val="tx1"/>
                </a:solidFill>
              </a:rPr>
              <a:t>PHP 8.4 + MariaDB 10.4 (XAMPP)</a:t>
            </a:r>
            <a:endParaRPr lang="en-US" sz="1600" dirty="0"/>
          </a:p>
        </p:txBody>
      </p:sp>
      <p:sp>
        <p:nvSpPr>
          <p:cNvPr id="7" name="Entorno Docker del curso"/>
          <p:cNvSpPr/>
          <p:nvPr/>
        </p:nvSpPr>
        <p:spPr>
          <a:xfrm>
            <a:off x="7680960" y="3611880"/>
            <a:ext cx="3959352" cy="2011680"/>
          </a:xfrm>
          <a:prstGeom prst="roundRect">
            <a:avLst>
              <a:gd name="adj" fmla="val 5455"/>
            </a:avLst>
          </a:prstGeom>
          <a:solidFill>
            <a:schemeClr val="bg2"/>
          </a:solidFill>
          <a:ln/>
        </p:spPr>
      </p:sp>
      <p:sp>
        <p:nvSpPr>
          <p:cNvPr id="8" name="Resultado Docker del curso"/>
          <p:cNvSpPr txBox="1"/>
          <p:nvPr/>
        </p:nvSpPr>
        <p:spPr>
          <a:xfrm>
            <a:off x="7909560" y="3794760"/>
            <a:ext cx="3566160" cy="86868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57/57</a:t>
            </a:r>
            <a:endParaRPr lang="en-US" sz="4800" dirty="0"/>
          </a:p>
        </p:txBody>
      </p:sp>
      <p:sp>
        <p:nvSpPr>
          <p:cNvPr id="9" name="Entorno texto Docker del curso"/>
          <p:cNvSpPr txBox="1"/>
          <p:nvPr/>
        </p:nvSpPr>
        <p:spPr>
          <a:xfrm>
            <a:off x="7909560" y="4709160"/>
            <a:ext cx="3566160" cy="777240"/>
          </a:xfrm>
          <a:prstGeom prst="rect">
            <a:avLst/>
          </a:prstGeom>
          <a:noFill/>
          <a:ln/>
        </p:spPr>
        <p:txBody>
          <a:bodyPr wrap="square" lIns="0" tIns="0" rIns="0" bIns="0" rtlCol="0" anchor="t"/>
          <a:lstStyle/>
          <a:p>
            <a:pPr indent="0" marL="0">
              <a:buNone/>
            </a:pPr>
            <a:r>
              <a:rPr lang="en-US" sz="1600" b="1" dirty="0">
                <a:solidFill>
                  <a:schemeClr val="tx2"/>
                </a:solidFill>
              </a:rPr>
              <a:t>Docker del curso</a:t>
            </a:r>
            <a:endParaRPr lang="en-US" sz="1600" dirty="0"/>
          </a:p>
          <a:p>
            <a:pPr indent="0" marL="0">
              <a:buNone/>
            </a:pPr>
            <a:r>
              <a:rPr lang="en-US" sz="1600" dirty="0">
                <a:solidFill>
                  <a:schemeClr val="tx1"/>
                </a:solidFill>
              </a:rPr>
              <a:t>PHP 8.3 + MySQL 8.4</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chemeClr val="tx2"/>
                </a:solidFill>
              </a:rPr>
              <a:t>Lo que nos enseñó trabajar con inteligencia artificial</a:t>
            </a:r>
            <a:endParaRPr lang="en-US" sz="3000" dirty="0"/>
          </a:p>
        </p:txBody>
      </p:sp>
      <p:sp>
        <p:nvSpPr>
          <p:cNvPr id="3" name="Introducción IA"/>
          <p:cNvSpPr txBox="1"/>
          <p:nvPr/>
        </p:nvSpPr>
        <p:spPr>
          <a:xfrm>
            <a:off x="548640" y="1280160"/>
            <a:ext cx="11094415" cy="457200"/>
          </a:xfrm>
          <a:prstGeom prst="rect">
            <a:avLst/>
          </a:prstGeom>
          <a:noFill/>
          <a:ln/>
        </p:spPr>
        <p:txBody>
          <a:bodyPr wrap="square" lIns="0" tIns="0" rIns="0" bIns="0" rtlCol="0" anchor="ctr"/>
          <a:lstStyle/>
          <a:p>
            <a:pPr indent="0" marL="0">
              <a:buNone/>
            </a:pPr>
            <a:r>
              <a:rPr lang="en-US" sz="1700" dirty="0">
                <a:solidFill>
                  <a:schemeClr val="tx1"/>
                </a:solidFill>
              </a:rPr>
              <a:t>La IA propone, el equipo decide. Cinco propuestas tenían errores, y las pruebas los detectaron:</a:t>
            </a:r>
            <a:endParaRPr lang="en-US" sz="1700" dirty="0"/>
          </a:p>
        </p:txBody>
      </p:sp>
      <p:sp>
        <p:nvSpPr>
          <p:cNvPr id="4" name="Insignia 1"/>
          <p:cNvSpPr/>
          <p:nvPr/>
        </p:nvSpPr>
        <p:spPr>
          <a:xfrm>
            <a:off x="548640" y="2029968"/>
            <a:ext cx="502920" cy="502920"/>
          </a:xfrm>
          <a:prstGeom prst="ellipse">
            <a:avLst/>
          </a:prstGeom>
          <a:solidFill>
            <a:schemeClr val="accent3"/>
          </a:solidFill>
          <a:ln/>
        </p:spPr>
      </p:sp>
      <p:sp>
        <p:nvSpPr>
          <p:cNvPr id="5" name="Insignia texto 1"/>
          <p:cNvSpPr txBox="1"/>
          <p:nvPr/>
        </p:nvSpPr>
        <p:spPr>
          <a:xfrm>
            <a:off x="548640" y="20299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Fila 1"/>
          <p:cNvSpPr txBox="1"/>
          <p:nvPr/>
        </p:nvSpPr>
        <p:spPr>
          <a:xfrm>
            <a:off x="1234440" y="2011680"/>
            <a:ext cx="4709160" cy="777240"/>
          </a:xfrm>
          <a:prstGeom prst="rect">
            <a:avLst/>
          </a:prstGeom>
          <a:noFill/>
          <a:ln/>
        </p:spPr>
        <p:txBody>
          <a:bodyPr wrap="square" lIns="0" tIns="0" rIns="0" bIns="0" rtlCol="0" anchor="t"/>
          <a:lstStyle/>
          <a:p>
            <a:pPr indent="0" marL="0">
              <a:buNone/>
            </a:pPr>
            <a:r>
              <a:rPr lang="en-US" sz="1700" b="1" dirty="0">
                <a:solidFill>
                  <a:schemeClr val="tx1"/>
                </a:solidFill>
              </a:rPr>
              <a:t>Contó 5 claves foráneas</a:t>
            </a:r>
            <a:endParaRPr lang="en-US" sz="1700" dirty="0"/>
          </a:p>
          <a:p>
            <a:pPr indent="0" marL="0">
              <a:buNone/>
            </a:pPr>
            <a:r>
              <a:rPr lang="en-US" sz="1700" dirty="0">
                <a:solidFill>
                  <a:schemeClr val="accent6"/>
                </a:solidFill>
              </a:rPr>
              <a:t>El esquema tiene 4.</a:t>
            </a:r>
            <a:endParaRPr lang="en-US" sz="1700" dirty="0"/>
          </a:p>
        </p:txBody>
      </p:sp>
      <p:sp>
        <p:nvSpPr>
          <p:cNvPr id="7" name="Insignia 2"/>
          <p:cNvSpPr/>
          <p:nvPr/>
        </p:nvSpPr>
        <p:spPr>
          <a:xfrm>
            <a:off x="548640" y="3218688"/>
            <a:ext cx="502920" cy="502920"/>
          </a:xfrm>
          <a:prstGeom prst="ellipse">
            <a:avLst/>
          </a:prstGeom>
          <a:solidFill>
            <a:schemeClr val="accent3"/>
          </a:solidFill>
          <a:ln/>
        </p:spPr>
      </p:sp>
      <p:sp>
        <p:nvSpPr>
          <p:cNvPr id="8" name="Insignia texto 2"/>
          <p:cNvSpPr txBox="1"/>
          <p:nvPr/>
        </p:nvSpPr>
        <p:spPr>
          <a:xfrm>
            <a:off x="548640" y="32186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Fila 2"/>
          <p:cNvSpPr txBox="1"/>
          <p:nvPr/>
        </p:nvSpPr>
        <p:spPr>
          <a:xfrm>
            <a:off x="1234440" y="3200400"/>
            <a:ext cx="4709160" cy="777240"/>
          </a:xfrm>
          <a:prstGeom prst="rect">
            <a:avLst/>
          </a:prstGeom>
          <a:noFill/>
          <a:ln/>
        </p:spPr>
        <p:txBody>
          <a:bodyPr wrap="square" lIns="0" tIns="0" rIns="0" bIns="0" rtlCol="0" anchor="t"/>
          <a:lstStyle/>
          <a:p>
            <a:pPr indent="0" marL="0">
              <a:buNone/>
            </a:pPr>
            <a:r>
              <a:rPr lang="en-US" sz="1700" b="1" dirty="0">
                <a:solidFill>
                  <a:schemeClr val="tx1"/>
                </a:solidFill>
              </a:rPr>
              <a:t>Supuso que la prenda nueva tendría id 15</a:t>
            </a:r>
            <a:endParaRPr lang="en-US" sz="1700" dirty="0"/>
          </a:p>
          <a:p>
            <a:pPr indent="0" marL="0">
              <a:buNone/>
            </a:pPr>
            <a:r>
              <a:rPr lang="en-US" sz="1700" dirty="0">
                <a:solidFill>
                  <a:schemeClr val="accent6"/>
                </a:solidFill>
              </a:rPr>
              <a:t>Un INSERT fallido ya había consumido el autoincremento.</a:t>
            </a:r>
            <a:endParaRPr lang="en-US" sz="1700" dirty="0"/>
          </a:p>
        </p:txBody>
      </p:sp>
      <p:sp>
        <p:nvSpPr>
          <p:cNvPr id="10" name="Insignia 3"/>
          <p:cNvSpPr/>
          <p:nvPr/>
        </p:nvSpPr>
        <p:spPr>
          <a:xfrm>
            <a:off x="548640" y="4407408"/>
            <a:ext cx="502920" cy="502920"/>
          </a:xfrm>
          <a:prstGeom prst="ellipse">
            <a:avLst/>
          </a:prstGeom>
          <a:solidFill>
            <a:schemeClr val="accent3"/>
          </a:solidFill>
          <a:ln/>
        </p:spPr>
      </p:sp>
      <p:sp>
        <p:nvSpPr>
          <p:cNvPr id="11" name="Insignia texto 3"/>
          <p:cNvSpPr txBox="1"/>
          <p:nvPr/>
        </p:nvSpPr>
        <p:spPr>
          <a:xfrm>
            <a:off x="548640" y="440740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Fila 3"/>
          <p:cNvSpPr txBox="1"/>
          <p:nvPr/>
        </p:nvSpPr>
        <p:spPr>
          <a:xfrm>
            <a:off x="1234440" y="4389120"/>
            <a:ext cx="4709160" cy="777240"/>
          </a:xfrm>
          <a:prstGeom prst="rect">
            <a:avLst/>
          </a:prstGeom>
          <a:noFill/>
          <a:ln/>
        </p:spPr>
        <p:txBody>
          <a:bodyPr wrap="square" lIns="0" tIns="0" rIns="0" bIns="0" rtlCol="0" anchor="t"/>
          <a:lstStyle/>
          <a:p>
            <a:pPr indent="0" marL="0">
              <a:buNone/>
            </a:pPr>
            <a:r>
              <a:rPr lang="en-US" sz="1700" b="1" dirty="0">
                <a:solidFill>
                  <a:schemeClr val="tx1"/>
                </a:solidFill>
              </a:rPr>
              <a:t>Envió «saó» sin codificar en la URL</a:t>
            </a:r>
            <a:endParaRPr lang="en-US" sz="1700" dirty="0"/>
          </a:p>
          <a:p>
            <a:pPr indent="0" marL="0">
              <a:buNone/>
            </a:pPr>
            <a:r>
              <a:rPr lang="en-US" sz="1700" dirty="0">
                <a:solidFill>
                  <a:schemeClr val="accent6"/>
                </a:solidFill>
              </a:rPr>
              <a:t>La prueba estaba mal; la aplicación funcionaba.</a:t>
            </a:r>
            <a:endParaRPr lang="en-US" sz="1700" dirty="0"/>
          </a:p>
        </p:txBody>
      </p:sp>
      <p:sp>
        <p:nvSpPr>
          <p:cNvPr id="13" name="Insignia 4"/>
          <p:cNvSpPr/>
          <p:nvPr/>
        </p:nvSpPr>
        <p:spPr>
          <a:xfrm>
            <a:off x="6217920" y="2029968"/>
            <a:ext cx="502920" cy="502920"/>
          </a:xfrm>
          <a:prstGeom prst="ellipse">
            <a:avLst/>
          </a:prstGeom>
          <a:solidFill>
            <a:schemeClr val="accent3"/>
          </a:solidFill>
          <a:ln/>
        </p:spPr>
      </p:sp>
      <p:sp>
        <p:nvSpPr>
          <p:cNvPr id="14" name="Insignia texto 4"/>
          <p:cNvSpPr txBox="1"/>
          <p:nvPr/>
        </p:nvSpPr>
        <p:spPr>
          <a:xfrm>
            <a:off x="6217920" y="20299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Fila 4"/>
          <p:cNvSpPr txBox="1"/>
          <p:nvPr/>
        </p:nvSpPr>
        <p:spPr>
          <a:xfrm>
            <a:off x="6903720" y="2011680"/>
            <a:ext cx="4709160" cy="777240"/>
          </a:xfrm>
          <a:prstGeom prst="rect">
            <a:avLst/>
          </a:prstGeom>
          <a:noFill/>
          <a:ln/>
        </p:spPr>
        <p:txBody>
          <a:bodyPr wrap="square" lIns="0" tIns="0" rIns="0" bIns="0" rtlCol="0" anchor="t"/>
          <a:lstStyle/>
          <a:p>
            <a:pPr indent="0" marL="0">
              <a:buNone/>
            </a:pPr>
            <a:r>
              <a:rPr lang="en-US" sz="1700" b="1" dirty="0">
                <a:solidFill>
                  <a:schemeClr val="tx1"/>
                </a:solidFill>
              </a:rPr>
              <a:t>Esperaba un 404 en /../config</a:t>
            </a:r>
            <a:endParaRPr lang="en-US" sz="1700" dirty="0"/>
          </a:p>
          <a:p>
            <a:pPr indent="0" marL="0">
              <a:buNone/>
            </a:pPr>
            <a:r>
              <a:rPr lang="en-US" sz="1700" dirty="0">
                <a:solidFill>
                  <a:schemeClr val="accent6"/>
                </a:solidFill>
              </a:rPr>
              <a:t>Ahora la prueba comprueba que no se filtra el contenido.</a:t>
            </a:r>
            <a:endParaRPr lang="en-US" sz="1700" dirty="0"/>
          </a:p>
        </p:txBody>
      </p:sp>
      <p:sp>
        <p:nvSpPr>
          <p:cNvPr id="16" name="Insignia 5"/>
          <p:cNvSpPr/>
          <p:nvPr/>
        </p:nvSpPr>
        <p:spPr>
          <a:xfrm>
            <a:off x="6217920" y="3218688"/>
            <a:ext cx="502920" cy="502920"/>
          </a:xfrm>
          <a:prstGeom prst="ellipse">
            <a:avLst/>
          </a:prstGeom>
          <a:solidFill>
            <a:schemeClr val="accent3"/>
          </a:solidFill>
          <a:ln/>
        </p:spPr>
      </p:sp>
      <p:sp>
        <p:nvSpPr>
          <p:cNvPr id="17" name="Insignia texto 5"/>
          <p:cNvSpPr txBox="1"/>
          <p:nvPr/>
        </p:nvSpPr>
        <p:spPr>
          <a:xfrm>
            <a:off x="6217920" y="321868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Fila 5"/>
          <p:cNvSpPr txBox="1"/>
          <p:nvPr/>
        </p:nvSpPr>
        <p:spPr>
          <a:xfrm>
            <a:off x="6903720" y="3200400"/>
            <a:ext cx="4709160" cy="777240"/>
          </a:xfrm>
          <a:prstGeom prst="rect">
            <a:avLst/>
          </a:prstGeom>
          <a:noFill/>
          <a:ln/>
        </p:spPr>
        <p:txBody>
          <a:bodyPr wrap="square" lIns="0" tIns="0" rIns="0" bIns="0" rtlCol="0" anchor="t"/>
          <a:lstStyle/>
          <a:p>
            <a:pPr indent="0" marL="0">
              <a:buNone/>
            </a:pPr>
            <a:r>
              <a:rPr lang="en-US" sz="1700" b="1" dirty="0">
                <a:solidFill>
                  <a:schemeClr val="tx1"/>
                </a:solidFill>
              </a:rPr>
              <a:t>Comparó con false en PHP 8.3</a:t>
            </a:r>
            <a:endParaRPr lang="en-US" sz="1700" dirty="0"/>
          </a:p>
          <a:p>
            <a:pPr indent="0" marL="0">
              <a:buNone/>
            </a:pPr>
            <a:r>
              <a:rPr lang="en-US" sz="1700" dirty="0">
                <a:solidFill>
                  <a:schemeClr val="accent6"/>
                </a:solidFill>
              </a:rPr>
              <a:t>PHP 8.3 devuelve 0; 8.4 devuelve false. Se encontró solo al probar en Docker.</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200" b="1" dirty="0">
                <a:solidFill>
                  <a:schemeClr val="bg1"/>
                </a:solidFill>
              </a:rPr>
              <a:t>Conclusiones y próximos pasos</a:t>
            </a:r>
            <a:endParaRPr lang="en-US" sz="3200" dirty="0"/>
          </a:p>
        </p:txBody>
      </p:sp>
      <p:sp>
        <p:nvSpPr>
          <p:cNvPr id="3" name="Conclusiones"/>
          <p:cNvSpPr txBox="1"/>
          <p:nvPr/>
        </p:nvSpPr>
        <p:spPr>
          <a:xfrm>
            <a:off x="548640" y="1554480"/>
            <a:ext cx="5852160" cy="2926080"/>
          </a:xfrm>
          <a:prstGeom prst="rect">
            <a:avLst/>
          </a:prstGeom>
          <a:noFill/>
          <a:ln/>
        </p:spPr>
        <p:txBody>
          <a:bodyPr wrap="square" lIns="0" tIns="0" rIns="0" bIns="0" rtlCol="0" anchor="t"/>
          <a:lstStyle/>
          <a:p>
            <a:pPr marL="342900" indent="-342900">
              <a:spcAft>
                <a:spcPts val="800"/>
              </a:spcAft>
              <a:buSzPct val="100000"/>
              <a:buChar char="•"/>
            </a:pPr>
            <a:r>
              <a:rPr lang="en-US" sz="2100" dirty="0">
                <a:solidFill>
                  <a:schemeClr val="bg1"/>
                </a:solidFill>
              </a:rPr>
              <a:t>La tienda funciona sobre MySQL sin perder funciones</a:t>
            </a:r>
            <a:endParaRPr lang="en-US" sz="2100" dirty="0"/>
          </a:p>
          <a:p>
            <a:pPr marL="342900" indent="-342900">
              <a:spcAft>
                <a:spcPts val="800"/>
              </a:spcAft>
              <a:buSzPct val="100000"/>
              <a:buChar char="•"/>
            </a:pPr>
            <a:r>
              <a:rPr lang="en-US" sz="2100" dirty="0">
                <a:solidFill>
                  <a:schemeClr val="bg1"/>
                </a:solidFill>
              </a:rPr>
              <a:t>La integridad se garantiza en la base, no solo en PHP</a:t>
            </a:r>
            <a:endParaRPr lang="en-US" sz="2100" dirty="0"/>
          </a:p>
          <a:p>
            <a:pPr marL="342900" indent="-342900">
              <a:spcAft>
                <a:spcPts val="800"/>
              </a:spcAft>
              <a:buSzPct val="100000"/>
              <a:buChar char="•"/>
            </a:pPr>
            <a:r>
              <a:rPr lang="en-US" sz="2100" dirty="0">
                <a:solidFill>
                  <a:schemeClr val="bg1"/>
                </a:solidFill>
              </a:rPr>
              <a:t>Resiste la inyección SQL y lo demuestran 13 pruebas</a:t>
            </a:r>
            <a:endParaRPr lang="en-US" sz="2100" dirty="0"/>
          </a:p>
          <a:p>
            <a:pPr marL="342900" indent="-342900">
              <a:spcAft>
                <a:spcPts val="800"/>
              </a:spcAft>
              <a:buSzPct val="100000"/>
              <a:buChar char="•"/>
            </a:pPr>
            <a:r>
              <a:rPr lang="en-US" sz="2100" dirty="0">
                <a:solidFill>
                  <a:schemeClr val="bg1"/>
                </a:solidFill>
              </a:rPr>
              <a:t>Interfaz con modales y avisos, probada en el navegador</a:t>
            </a:r>
            <a:endParaRPr lang="en-US" sz="2100" dirty="0"/>
          </a:p>
          <a:p>
            <a:pPr marL="342900" indent="-342900">
              <a:buSzPct val="100000"/>
              <a:buChar char="•"/>
            </a:pPr>
            <a:r>
              <a:rPr lang="en-US" sz="2100" dirty="0">
                <a:solidFill>
                  <a:schemeClr val="bg1"/>
                </a:solidFill>
              </a:rPr>
              <a:t>57 de 57 pruebas en dos entornos</a:t>
            </a:r>
            <a:endParaRPr lang="en-US" sz="2100" dirty="0"/>
          </a:p>
        </p:txBody>
      </p:sp>
      <p:sp>
        <p:nvSpPr>
          <p:cNvPr id="4" name="Próximos pasos (fondo)"/>
          <p:cNvSpPr/>
          <p:nvPr/>
        </p:nvSpPr>
        <p:spPr>
          <a:xfrm>
            <a:off x="6812280" y="1463040"/>
            <a:ext cx="4828032" cy="2743200"/>
          </a:xfrm>
          <a:prstGeom prst="roundRect">
            <a:avLst>
              <a:gd name="adj" fmla="val 4000"/>
            </a:avLst>
          </a:prstGeom>
          <a:solidFill>
            <a:schemeClr val="bg1"/>
          </a:solidFill>
          <a:ln/>
        </p:spPr>
      </p:sp>
      <p:sp>
        <p:nvSpPr>
          <p:cNvPr id="5" name="Próximos pasos"/>
          <p:cNvSpPr txBox="1"/>
          <p:nvPr/>
        </p:nvSpPr>
        <p:spPr>
          <a:xfrm>
            <a:off x="7086600" y="1691640"/>
            <a:ext cx="4297680" cy="237744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Próximos pasos</a:t>
            </a:r>
            <a:endParaRPr lang="en-US" sz="1700" dirty="0"/>
          </a:p>
          <a:p>
            <a:pPr marL="342900" indent="-342900">
              <a:spcAft>
                <a:spcPts val="400"/>
              </a:spcAft>
              <a:buSzPct val="100000"/>
              <a:buChar char="•"/>
            </a:pPr>
            <a:r>
              <a:rPr lang="en-US" sz="1700" dirty="0">
                <a:solidFill>
                  <a:schemeClr val="tx1"/>
                </a:solidFill>
              </a:rPr>
              <a:t>Actividad 3: usuarios, roles, pedidos y reportes</a:t>
            </a:r>
            <a:endParaRPr lang="en-US" sz="1700" dirty="0"/>
          </a:p>
          <a:p>
            <a:pPr marL="342900" indent="-342900">
              <a:spcAft>
                <a:spcPts val="400"/>
              </a:spcAft>
              <a:buSzPct val="100000"/>
              <a:buChar char="•"/>
            </a:pPr>
            <a:r>
              <a:rPr lang="en-US" sz="1700" dirty="0">
                <a:solidFill>
                  <a:schemeClr val="tx1"/>
                </a:solidFill>
              </a:rPr>
              <a:t>Actividad 4: API REST y fetch</a:t>
            </a:r>
            <a:endParaRPr lang="en-US" sz="1700" dirty="0"/>
          </a:p>
          <a:p>
            <a:pPr marL="342900" indent="-342900">
              <a:buSzPct val="100000"/>
              <a:buChar char="•"/>
            </a:pPr>
            <a:r>
              <a:rPr lang="en-US" sz="1700" dirty="0">
                <a:solidFill>
                  <a:schemeClr val="tx1"/>
                </a:solidFill>
              </a:rPr>
              <a:t>Proyecto final: hosting y pruebas en GitHub Actions</a:t>
            </a:r>
            <a:endParaRPr lang="en-US" sz="1700" dirty="0"/>
          </a:p>
        </p:txBody>
      </p:sp>
      <p:sp>
        <p:nvSpPr>
          <p:cNvPr id="6" name="Enlaces"/>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400" dirty="0">
                <a:solidFill>
                  <a:schemeClr val="bg2"/>
                </a:solidFill>
              </a:rPr>
              <a:t>Repositorio: github.com/TecnologiaWeb2/Tecnologiaweb2   ·   Tablero: github.com/orgs/TecnologiaWeb2/projects/1</a:t>
            </a:r>
            <a:endParaRPr lang="en-US" sz="1400" dirty="0"/>
          </a:p>
        </p:txBody>
      </p:sp>
    </p:spTree>
  </p:cSld>
  <p:clrMapOvr>
    <a:masterClrMapping/>
  </p:clrMapOvr>
</p:sld>
</file>

<file path=ppt/theme/theme1.xml><?xml version="1.0" encoding="utf-8"?>
<a:theme xmlns:a="http://schemas.openxmlformats.org/drawingml/2006/main" name="Manos del Oriente">
  <a:themeElements>
    <a:clrScheme name="Manos del Oriente">
      <a:dk1>
        <a:srgbClr val="2D2A32"/>
      </a:dk1>
      <a:lt1>
        <a:srgbClr val="FFFFFF"/>
      </a:lt1>
      <a:dk2>
        <a:srgbClr val="3B3542"/>
      </a:dk2>
      <a:lt2>
        <a:srgbClr val="F8EEF0"/>
      </a:lt2>
      <a:accent1>
        <a:srgbClr val="A0566A"/>
      </a:accent1>
      <a:accent2>
        <a:srgbClr val="4C7A69"/>
      </a:accent2>
      <a:accent3>
        <a:srgbClr val="B5838D"/>
      </a:accent3>
      <a:accent4>
        <a:srgbClr val="7B6BA8"/>
      </a:accent4>
      <a:accent5>
        <a:srgbClr val="C4647A"/>
      </a:accent5>
      <a:accent6>
        <a:srgbClr val="6B6570"/>
      </a:accent6>
      <a:hlink>
        <a:srgbClr val="A0566A"/>
      </a:hlink>
      <a:folHlink>
        <a:srgbClr val="4C7A69"/>
      </a:folHlink>
    </a:clrScheme>
    <a:fontScheme name="Manos del Orien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UPDS - Tecnología Web 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2: de JSON a MySQL</dc:title>
  <dc:subject>PptxGenJS Presentation</dc:subject>
  <dc:creator>Equipo Manos del Oriente</dc:creator>
  <cp:lastModifiedBy>Equipo Manos del Oriente</cp:lastModifiedBy>
  <cp:revision>1</cp:revision>
  <dcterms:created xsi:type="dcterms:W3CDTF">2026-10-14T04:01:40Z</dcterms:created>
  <dcterms:modified xsi:type="dcterms:W3CDTF">2026-10-14T04:01:40Z</dcterms:modified>
</cp:coreProperties>
</file>