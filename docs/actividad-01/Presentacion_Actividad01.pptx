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f105440-60c9-460e-e765-7e938467f91a}">
          <p14:sldIdLst>
            <p14:sldId id="256"/>
          </p14:sldIdLst>
        </p14:section>
        <p14:section name="Contexto" id="{736d998e-afa6-aec4-3771-30965f90d1e5}">
          <p14:sldIdLst>
            <p14:sldId id="257"/>
            <p14:sldId id="258"/>
          </p14:sldIdLst>
        </p14:section>
        <p14:section name="Diseño" id="{f8ad74c6-9dee-7984-4659-242fc5639ca9}">
          <p14:sldIdLst>
            <p14:sldId id="259"/>
            <p14:sldId id="260"/>
          </p14:sldIdLst>
        </p14:section>
        <p14:section name="Aplicación" id="{023667f2-e3cd-4d6f-b02f-03a3e6b80ccc}">
          <p14:sldIdLst>
            <p14:sldId id="261"/>
            <p14:sldId id="262"/>
          </p14:sldIdLst>
        </p14:section>
        <p14:section name="Seguridad" id="{b06167be-66e1-c989-309b-ad030a9266e4}">
          <p14:sldIdLst>
            <p14:sldId id="263"/>
          </p14:sldIdLst>
        </p14:section>
        <p14:section name="Pruebas" id="{2de4106f-665a-bc61-f006-73bf09bda934}">
          <p14:sldIdLst>
            <p14:sldId id="264"/>
          </p14:sldIdLst>
        </p14:section>
        <p14:section name="Uso de IA" id="{1ad2f66d-58b8-635e-b4f0-14b88a5930df}">
          <p14:sldIdLst>
            <p14:sldId id="265"/>
          </p14:sldIdLst>
        </p14:section>
        <p14:section name="Cierre" id="{688d0a64-f3e2-bc10-594c-269fb4bd173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7A2E14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7A2E14"/>
                </a:solidFill>
                <a:latin typeface="+mn-lt"/>
              </a:rPr>
              <a:t>Comprobaciones por grupo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A1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Clases (POO)</c:v>
                  </c:pt>
                  <c:pt idx="1">
                    <c:v>Fotos</c:v>
                  </c:pt>
                  <c:pt idx="2">
                    <c:v>Edición y eliminación</c:v>
                  </c:pt>
                  <c:pt idx="3">
                    <c:v>Formularios</c:v>
                  </c:pt>
                  <c:pt idx="4">
                    <c:v>Vitrina y filtros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B1A1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1A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primera actividad del proyecto: el catálogo de la tienda virtual de ropa de la asociación Manos del Oriente.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asociación confecciona poleras, pantalones, vestidos y accesorios con telas y técnicas de la región, como el tejido de saó. Hoy lleva su inventario en cuadernos, y eso provoca los tres problemas que vemos.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requisito tiene al menos una prueba automática que lo verifica; la matriz de trazabilidad está en el anexo B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servidor solo expone la carpeta public. El código, las plantillas y los datos, incluidas las fotos, quedan fuera de su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clases son inmutables: una vez creadas no cambian. Para editar se crea una copia con el método con. El constructor rechaza datos inválidos como un precio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vitrina muestra las prendas en una grilla adaptable. Los filtros usan GET, por eso cada búsqueda produce una URL que se puede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validación ocurre en el servidor. Si algo falla, la página responde con el código 422 y muestra el mensaje junto a cada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las recomendaciones de OWASP para la subida de archivos y para CSRF. Todas estas defensas tienen una prueba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envían peticiones HTTP reales al servidor embebido, incluidos archivos maliciosos, y trabajan sobre una copia temporal de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completo de cada pedido a la IA, su propuesta y nuestra decisión está en la bitácora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toda la persistencia está en una sola clase, la migración a MySQL de la Actividad 2 solo requerirá reemplazarla.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6596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0896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Manos del Oriente · Actividad 1: catálogo en PHP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82296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bg2"/>
                </a:solidFill>
              </a:rPr>
              <a:t>ACTIVIDAD 1 · TECNOLOGÍA WEB II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Catálogo en PHP 8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108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Tienda virtual «Manos del Oriente»: programación orientada a objetos, formularios validados y persistencia en JSON</a:t>
            </a:r>
            <a:endParaRPr lang="en-US" sz="2000" dirty="0"/>
          </a:p>
        </p:txBody>
      </p:sp>
      <p:sp>
        <p:nvSpPr>
          <p:cNvPr id="5" name="Marco del logo"/>
          <p:cNvSpPr/>
          <p:nvPr/>
        </p:nvSpPr>
        <p:spPr>
          <a:xfrm>
            <a:off x="8915400" y="1417320"/>
            <a:ext cx="2514600" cy="25146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pic>
        <p:nvPicPr>
          <p:cNvPr id="6" name="Logo UPDS" descr="Logo de la Universidad Privada Domingo Sav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600200"/>
            <a:ext cx="2148840" cy="2148840"/>
          </a:xfrm>
          <a:prstGeom prst="rect">
            <a:avLst/>
          </a:prstGeom>
        </p:spPr>
      </p:pic>
      <p:sp>
        <p:nvSpPr>
          <p:cNvPr id="7" name="Pie de portada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Integrantes: Daniela Cayo Mamani · Juan Jose Vicente · Yordy Tolavi Ruiz · [Integrante 4] · [Integrante 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Universidad Privada Domingo Savio · Santa Cruz de la Sierra · 12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problema: un inventario en cuadernos y WhatsApp</a:t>
            </a:r>
            <a:endParaRPr lang="en-US" sz="3000" dirty="0"/>
          </a:p>
        </p:txBody>
      </p:sp>
      <p:sp>
        <p:nvSpPr>
          <p:cNvPr id="3" name="Problema 1 (fondo)"/>
          <p:cNvSpPr/>
          <p:nvPr/>
        </p:nvSpPr>
        <p:spPr>
          <a:xfrm>
            <a:off x="548640" y="1463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Problema 1 (título)"/>
          <p:cNvSpPr txBox="1"/>
          <p:nvPr/>
        </p:nvSpPr>
        <p:spPr>
          <a:xfrm>
            <a:off x="777240" y="1627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viejos</a:t>
            </a:r>
            <a:endParaRPr lang="en-US" sz="2000" dirty="0"/>
          </a:p>
        </p:txBody>
      </p:sp>
      <p:sp>
        <p:nvSpPr>
          <p:cNvPr id="5" name="Problema 1 (texto)"/>
          <p:cNvSpPr txBox="1"/>
          <p:nvPr/>
        </p:nvSpPr>
        <p:spPr>
          <a:xfrm>
            <a:off x="777240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socia anota sus prendas en un cuaderno y comparte fotos por WhatsApp.</a:t>
            </a:r>
            <a:endParaRPr lang="en-US" sz="1700" dirty="0"/>
          </a:p>
        </p:txBody>
      </p:sp>
      <p:sp>
        <p:nvSpPr>
          <p:cNvPr id="6" name="Problema 2 (fondo)"/>
          <p:cNvSpPr/>
          <p:nvPr/>
        </p:nvSpPr>
        <p:spPr>
          <a:xfrm>
            <a:off x="4325112" y="1463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7" name="Problema 2 (título)"/>
          <p:cNvSpPr txBox="1"/>
          <p:nvPr/>
        </p:nvSpPr>
        <p:spPr>
          <a:xfrm>
            <a:off x="4553712" y="1627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sin stock</a:t>
            </a:r>
            <a:endParaRPr lang="en-US" sz="2000" dirty="0"/>
          </a:p>
        </p:txBody>
      </p:sp>
      <p:sp>
        <p:nvSpPr>
          <p:cNvPr id="8" name="Problema 2 (texto)"/>
          <p:cNvSpPr txBox="1"/>
          <p:nvPr/>
        </p:nvSpPr>
        <p:spPr>
          <a:xfrm>
            <a:off x="4553712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Nadie sabe con certeza qué tallas quedan en stock.</a:t>
            </a:r>
            <a:endParaRPr lang="en-US" sz="1700" dirty="0"/>
          </a:p>
        </p:txBody>
      </p:sp>
      <p:sp>
        <p:nvSpPr>
          <p:cNvPr id="9" name="Problema 3 (fondo)"/>
          <p:cNvSpPr/>
          <p:nvPr/>
        </p:nvSpPr>
        <p:spPr>
          <a:xfrm>
            <a:off x="8101584" y="146304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Problema 3 (título)"/>
          <p:cNvSpPr txBox="1"/>
          <p:nvPr/>
        </p:nvSpPr>
        <p:spPr>
          <a:xfrm>
            <a:off x="8330184" y="1627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sin valor</a:t>
            </a:r>
            <a:endParaRPr lang="en-US" sz="2000" dirty="0"/>
          </a:p>
        </p:txBody>
      </p:sp>
      <p:sp>
        <p:nvSpPr>
          <p:cNvPr id="11" name="Problema 3 (texto)"/>
          <p:cNvSpPr txBox="1"/>
          <p:nvPr/>
        </p:nvSpPr>
        <p:spPr>
          <a:xfrm>
            <a:off x="8330184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asociación no sabe cuánto vale lo que tiene para vender.</a:t>
            </a:r>
            <a:endParaRPr lang="en-US" sz="1700" dirty="0"/>
          </a:p>
        </p:txBody>
      </p:sp>
      <p:sp>
        <p:nvSpPr>
          <p:cNvPr id="12" name="Caso"/>
          <p:cNvSpPr txBox="1"/>
          <p:nvPr/>
        </p:nvSpPr>
        <p:spPr>
          <a:xfrm>
            <a:off x="548640" y="4343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Asociación de Confeccionistas Textiles «Manos del Oriente», costureras y bordadoras de la Chiquitanía (caso verosímil).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Qué construimos: 5 requisitos funcionales y 5 no funcionales</a:t>
            </a:r>
            <a:endParaRPr lang="en-US" sz="3000" dirty="0"/>
          </a:p>
        </p:txBody>
      </p:sp>
      <p:sp>
        <p:nvSpPr>
          <p:cNvPr id="3" name="Funcionales (fondo)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Funcionales (título)"/>
          <p:cNvSpPr txBox="1"/>
          <p:nvPr/>
        </p:nvSpPr>
        <p:spPr>
          <a:xfrm>
            <a:off x="77724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Funcionales</a:t>
            </a:r>
            <a:endParaRPr lang="en-US" sz="2000" dirty="0"/>
          </a:p>
        </p:txBody>
      </p:sp>
      <p:sp>
        <p:nvSpPr>
          <p:cNvPr id="5" name="Funcionales (texto)"/>
          <p:cNvSpPr txBox="1"/>
          <p:nvPr/>
        </p:nvSpPr>
        <p:spPr>
          <a:xfrm>
            <a:off x="777240" y="20116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RF-01 Vitrina con foto, precio, tallas y stock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RF-02 Filtros por texto, categoría, talla y orden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RF-03 Ficha de detalle de cada prenda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RF-04 Registrar, editar y eliminar prendas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RF-05 Valor del inventario (precio × stock)</a:t>
            </a:r>
            <a:endParaRPr lang="en-US" sz="1700" dirty="0"/>
          </a:p>
        </p:txBody>
      </p:sp>
      <p:sp>
        <p:nvSpPr>
          <p:cNvPr id="6" name="No funcionales (fondo)"/>
          <p:cNvSpPr/>
          <p:nvPr/>
        </p:nvSpPr>
        <p:spPr>
          <a:xfrm>
            <a:off x="6245352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</p:spPr>
      </p:sp>
      <p:sp>
        <p:nvSpPr>
          <p:cNvPr id="7" name="No funcionales (título)"/>
          <p:cNvSpPr txBox="1"/>
          <p:nvPr/>
        </p:nvSpPr>
        <p:spPr>
          <a:xfrm>
            <a:off x="6473952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funcionales</a:t>
            </a:r>
            <a:endParaRPr lang="en-US" sz="2000" dirty="0"/>
          </a:p>
        </p:txBody>
      </p:sp>
      <p:sp>
        <p:nvSpPr>
          <p:cNvPr id="8" name="No funcionales (texto)"/>
          <p:cNvSpPr txBox="1"/>
          <p:nvPr/>
        </p:nvSpPr>
        <p:spPr>
          <a:xfrm>
            <a:off x="6473952" y="20116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RNF-01 Validar y sanear toda entrada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RNF-02 Solo JPG, PNG o WebP de hasta 2 MB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RNF-03 Formularios protegidos contra CSRF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RNF-04 JSON que nunca queda escrito a medias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RNF-05 Interfaz adaptable y accesible</a:t>
            </a:r>
            <a:endParaRPr lang="en-US" sz="1700" dirty="0"/>
          </a:p>
        </p:txBody>
      </p:sp>
      <p:sp>
        <p:nvSpPr>
          <p:cNvPr id="9" name="Borde no funcionales"/>
          <p:cNvSpPr/>
          <p:nvPr/>
        </p:nvSpPr>
        <p:spPr>
          <a:xfrm>
            <a:off x="6245352" y="1371600"/>
            <a:ext cx="5394960" cy="4206240"/>
          </a:xfrm>
          <a:prstGeom prst="roundRect">
            <a:avLst>
              <a:gd name="adj" fmla="val 2609"/>
            </a:avLst>
          </a:prstGeom>
          <a:ln w="25400">
            <a:solidFill>
              <a:srgbClr val="FBE9D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Arquitectura: solo public/ es accesible desde el navegador</a:t>
            </a:r>
            <a:endParaRPr lang="en-US" sz="3000" dirty="0"/>
          </a:p>
        </p:txBody>
      </p:sp>
      <p:sp>
        <p:nvSpPr>
          <p:cNvPr id="3" name="Navegador"/>
          <p:cNvSpPr/>
          <p:nvPr/>
        </p:nvSpPr>
        <p:spPr>
          <a:xfrm>
            <a:off x="548640" y="146304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Navegador texto"/>
          <p:cNvSpPr txBox="1"/>
          <p:nvPr/>
        </p:nvSpPr>
        <p:spPr>
          <a:xfrm>
            <a:off x="548640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Navegador</a:t>
            </a:r>
            <a:endParaRPr lang="en-US" sz="1800" dirty="0"/>
          </a:p>
        </p:txBody>
      </p:sp>
      <p:sp>
        <p:nvSpPr>
          <p:cNvPr id="5" name="Flecha navegador"/>
          <p:cNvSpPr/>
          <p:nvPr/>
        </p:nvSpPr>
        <p:spPr>
          <a:xfrm>
            <a:off x="2880360" y="1828800"/>
            <a:ext cx="54864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Carpeta public"/>
          <p:cNvSpPr/>
          <p:nvPr/>
        </p:nvSpPr>
        <p:spPr>
          <a:xfrm>
            <a:off x="3611880" y="146304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7" name="Carpeta public texto"/>
          <p:cNvSpPr txBox="1"/>
          <p:nvPr/>
        </p:nvSpPr>
        <p:spPr>
          <a:xfrm>
            <a:off x="379476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public/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index, producto, admin, nuevo, editar, eliminar, foto</a:t>
            </a:r>
            <a:endParaRPr lang="en-US" sz="2000" dirty="0"/>
          </a:p>
        </p:txBody>
      </p:sp>
      <p:sp>
        <p:nvSpPr>
          <p:cNvPr id="8" name="Carpeta src/ (fondo)"/>
          <p:cNvSpPr/>
          <p:nvPr/>
        </p:nvSpPr>
        <p:spPr>
          <a:xfrm>
            <a:off x="548640" y="31546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Carpeta src/ (título)"/>
          <p:cNvSpPr txBox="1"/>
          <p:nvPr/>
        </p:nvSpPr>
        <p:spPr>
          <a:xfrm>
            <a:off x="777240" y="3319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</a:t>
            </a:r>
            <a:endParaRPr lang="en-US" sz="1800" dirty="0"/>
          </a:p>
        </p:txBody>
      </p:sp>
      <p:sp>
        <p:nvSpPr>
          <p:cNvPr id="10" name="Carpeta src/ (texto)"/>
          <p:cNvSpPr txBox="1"/>
          <p:nvPr/>
        </p:nvSpPr>
        <p:spPr>
          <a:xfrm>
            <a:off x="777240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arranque, config, funciones, validación, fotos</a:t>
            </a:r>
            <a:endParaRPr lang="en-US" sz="1500" dirty="0"/>
          </a:p>
        </p:txBody>
      </p:sp>
      <p:sp>
        <p:nvSpPr>
          <p:cNvPr id="11" name="Carpeta src/Modelo/ (fondo)"/>
          <p:cNvSpPr/>
          <p:nvPr/>
        </p:nvSpPr>
        <p:spPr>
          <a:xfrm>
            <a:off x="3364992" y="31546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Carpeta src/Modelo/ (título)"/>
          <p:cNvSpPr txBox="1"/>
          <p:nvPr/>
        </p:nvSpPr>
        <p:spPr>
          <a:xfrm>
            <a:off x="3593592" y="3319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src/Modelo/</a:t>
            </a:r>
            <a:endParaRPr lang="en-US" sz="1800" dirty="0"/>
          </a:p>
        </p:txBody>
      </p:sp>
      <p:sp>
        <p:nvSpPr>
          <p:cNvPr id="13" name="Carpeta src/Modelo/ (texto)"/>
          <p:cNvSpPr txBox="1"/>
          <p:nvPr/>
        </p:nvSpPr>
        <p:spPr>
          <a:xfrm>
            <a:off x="3593592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Producto, Categoria, Catalogo, enum Talla</a:t>
            </a:r>
            <a:endParaRPr lang="en-US" sz="1500" dirty="0"/>
          </a:p>
        </p:txBody>
      </p:sp>
      <p:sp>
        <p:nvSpPr>
          <p:cNvPr id="14" name="Carpeta plantillas/ (fondo)"/>
          <p:cNvSpPr/>
          <p:nvPr/>
        </p:nvSpPr>
        <p:spPr>
          <a:xfrm>
            <a:off x="6181344" y="31546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Carpeta plantillas/ (título)"/>
          <p:cNvSpPr txBox="1"/>
          <p:nvPr/>
        </p:nvSpPr>
        <p:spPr>
          <a:xfrm>
            <a:off x="6409944" y="3319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plantillas/</a:t>
            </a:r>
            <a:endParaRPr lang="en-US" sz="1800" dirty="0"/>
          </a:p>
        </p:txBody>
      </p:sp>
      <p:sp>
        <p:nvSpPr>
          <p:cNvPr id="16" name="Carpeta plantillas/ (texto)"/>
          <p:cNvSpPr txBox="1"/>
          <p:nvPr/>
        </p:nvSpPr>
        <p:spPr>
          <a:xfrm>
            <a:off x="6409944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cabecera, pie, formulario</a:t>
            </a:r>
            <a:endParaRPr lang="en-US" sz="1500" dirty="0"/>
          </a:p>
        </p:txBody>
      </p:sp>
      <p:sp>
        <p:nvSpPr>
          <p:cNvPr id="17" name="Carpeta datos/ (fondo)"/>
          <p:cNvSpPr/>
          <p:nvPr/>
        </p:nvSpPr>
        <p:spPr>
          <a:xfrm>
            <a:off x="8997696" y="31546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Carpeta datos/ (título)"/>
          <p:cNvSpPr txBox="1"/>
          <p:nvPr/>
        </p:nvSpPr>
        <p:spPr>
          <a:xfrm>
            <a:off x="9226296" y="3319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datos/</a:t>
            </a:r>
            <a:endParaRPr lang="en-US" sz="1800" dirty="0"/>
          </a:p>
        </p:txBody>
      </p:sp>
      <p:sp>
        <p:nvSpPr>
          <p:cNvPr id="19" name="Carpeta datos/ (texto)"/>
          <p:cNvSpPr txBox="1"/>
          <p:nvPr/>
        </p:nvSpPr>
        <p:spPr>
          <a:xfrm>
            <a:off x="9226296" y="37947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JSON y fotos (fuera de public/)</a:t>
            </a:r>
            <a:endParaRPr lang="en-US" sz="1500" dirty="0"/>
          </a:p>
        </p:txBody>
      </p:sp>
      <p:sp>
        <p:nvSpPr>
          <p:cNvPr id="20" name="Nota privado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Privado: el servidor no lo expone. Cada página carga todo con un solo require de src/arranque.php.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Modelo orientado a objetos inmutable</a:t>
            </a:r>
            <a:endParaRPr lang="en-US" sz="3000" dirty="0"/>
          </a:p>
        </p:txBody>
      </p:sp>
      <p:sp>
        <p:nvSpPr>
          <p:cNvPr id="3" name="Código (fondo)"/>
          <p:cNvSpPr/>
          <p:nvPr/>
        </p:nvSpPr>
        <p:spPr>
          <a:xfrm>
            <a:off x="548640" y="1417320"/>
            <a:ext cx="6309360" cy="4023360"/>
          </a:xfrm>
          <a:prstGeom prst="roundRect">
            <a:avLst>
              <a:gd name="adj" fmla="val 2273"/>
            </a:avLst>
          </a:prstGeom>
          <a:solidFill>
            <a:schemeClr val="tx1"/>
          </a:solidFill>
          <a:ln/>
        </p:spPr>
      </p:sp>
      <p:sp>
        <p:nvSpPr>
          <p:cNvPr id="4" name="Código"/>
          <p:cNvSpPr txBox="1"/>
          <p:nvPr/>
        </p:nvSpPr>
        <p:spPr>
          <a:xfrm>
            <a:off x="822960" y="160020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readonly class Producto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__construct(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$codigo,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$nombre,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Categoria $categoria,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$precio,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$stock = 0,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array $tallas = [Talla::UNICA],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 /* reglas */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$rebajado = $p-&gt;con(precio: 79.90);</a:t>
            </a:r>
            <a:endParaRPr lang="en-US" sz="1600" dirty="0"/>
          </a:p>
        </p:txBody>
      </p:sp>
      <p:sp>
        <p:nvSpPr>
          <p:cNvPr id="5" name="Insignia 1"/>
          <p:cNvSpPr/>
          <p:nvPr/>
        </p:nvSpPr>
        <p:spPr>
          <a:xfrm>
            <a:off x="7178040" y="14813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signia texto 1"/>
          <p:cNvSpPr txBox="1"/>
          <p:nvPr/>
        </p:nvSpPr>
        <p:spPr>
          <a:xfrm>
            <a:off x="71780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ila 1"/>
          <p:cNvSpPr txBox="1"/>
          <p:nvPr/>
        </p:nvSpPr>
        <p:spPr>
          <a:xfrm>
            <a:off x="7863840" y="146304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Promoción de propiedades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 declaran en el constructor (PHP 8.0) y son de solo lectura.</a:t>
            </a:r>
            <a:endParaRPr lang="en-US" sz="1500" dirty="0"/>
          </a:p>
        </p:txBody>
      </p:sp>
      <p:sp>
        <p:nvSpPr>
          <p:cNvPr id="8" name="Insignia 2"/>
          <p:cNvSpPr/>
          <p:nvPr/>
        </p:nvSpPr>
        <p:spPr>
          <a:xfrm>
            <a:off x="7178040" y="27614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Insignia texto 2"/>
          <p:cNvSpPr txBox="1"/>
          <p:nvPr/>
        </p:nvSpPr>
        <p:spPr>
          <a:xfrm>
            <a:off x="71780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Fila 2"/>
          <p:cNvSpPr txBox="1"/>
          <p:nvPr/>
        </p:nvSpPr>
        <p:spPr>
          <a:xfrm>
            <a:off x="7863840" y="274320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enum Talla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Impide valores inválidos como «XXXL».</a:t>
            </a:r>
            <a:endParaRPr lang="en-US" sz="1500" dirty="0"/>
          </a:p>
        </p:txBody>
      </p:sp>
      <p:sp>
        <p:nvSpPr>
          <p:cNvPr id="11" name="Insignia 3"/>
          <p:cNvSpPr/>
          <p:nvPr/>
        </p:nvSpPr>
        <p:spPr>
          <a:xfrm>
            <a:off x="7178040" y="4041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Insignia texto 3"/>
          <p:cNvSpPr txBox="1"/>
          <p:nvPr/>
        </p:nvSpPr>
        <p:spPr>
          <a:xfrm>
            <a:off x="717804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Fila 3"/>
          <p:cNvSpPr txBox="1"/>
          <p:nvPr/>
        </p:nvSpPr>
        <p:spPr>
          <a:xfrm>
            <a:off x="7863840" y="402336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Editar = copiar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con() crea una copia con parámetros nombrados; el objeto original no cambia.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vitrina y sus filtros GET</a:t>
            </a:r>
            <a:endParaRPr lang="en-US" sz="3000" dirty="0"/>
          </a:p>
        </p:txBody>
      </p:sp>
      <p:sp>
        <p:nvSpPr>
          <p:cNvPr id="3" name="Marco Vitrina de la tienda"/>
          <p:cNvSpPr/>
          <p:nvPr/>
        </p:nvSpPr>
        <p:spPr>
          <a:xfrm>
            <a:off x="512064" y="1289304"/>
            <a:ext cx="6473952" cy="4169664"/>
          </a:xfrm>
          <a:prstGeom prst="rect">
            <a:avLst/>
          </a:prstGeom>
          <a:solidFill>
            <a:schemeClr val="bg1"/>
          </a:solidFill>
          <a:ln w="12700">
            <a:solidFill>
              <a:srgbClr val="FBE9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Vitrina de la tienda" descr="Vitrina de la ti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400800" cy="4096512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406640" y="14813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signia texto 1"/>
          <p:cNvSpPr txBox="1"/>
          <p:nvPr/>
        </p:nvSpPr>
        <p:spPr>
          <a:xfrm>
            <a:off x="74066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ila 1"/>
          <p:cNvSpPr txBox="1"/>
          <p:nvPr/>
        </p:nvSpPr>
        <p:spPr>
          <a:xfrm>
            <a:off x="8092440" y="146304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Precios bolivianos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Formato Bs 1.234,50 e insignia «Agotado».</a:t>
            </a:r>
            <a:endParaRPr lang="en-US" sz="1500" dirty="0"/>
          </a:p>
        </p:txBody>
      </p:sp>
      <p:sp>
        <p:nvSpPr>
          <p:cNvPr id="8" name="Insignia 2"/>
          <p:cNvSpPr/>
          <p:nvPr/>
        </p:nvSpPr>
        <p:spPr>
          <a:xfrm>
            <a:off x="7406640" y="27614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Insignia texto 2"/>
          <p:cNvSpPr txBox="1"/>
          <p:nvPr/>
        </p:nvSpPr>
        <p:spPr>
          <a:xfrm>
            <a:off x="7406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Fila 2"/>
          <p:cNvSpPr txBox="1"/>
          <p:nvPr/>
        </p:nvSpPr>
        <p:spPr>
          <a:xfrm>
            <a:off x="8092440" y="274320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URLs compartibles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Cada búsqueda es un GET: ?q=jean&amp;talla=XL.</a:t>
            </a:r>
            <a:endParaRPr lang="en-US" sz="1500" dirty="0"/>
          </a:p>
        </p:txBody>
      </p:sp>
      <p:sp>
        <p:nvSpPr>
          <p:cNvPr id="11" name="Insignia 3"/>
          <p:cNvSpPr/>
          <p:nvPr/>
        </p:nvSpPr>
        <p:spPr>
          <a:xfrm>
            <a:off x="7406640" y="4041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Insignia texto 3"/>
          <p:cNvSpPr txBox="1"/>
          <p:nvPr/>
        </p:nvSpPr>
        <p:spPr>
          <a:xfrm>
            <a:off x="740664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Fila 3"/>
          <p:cNvSpPr txBox="1"/>
          <p:nvPr/>
        </p:nvSpPr>
        <p:spPr>
          <a:xfrm>
            <a:off x="8092440" y="402336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Entradas inválidas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Una categoría inventada en la URL se ignora.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Formularios validados en el servidor</a:t>
            </a:r>
            <a:endParaRPr lang="en-US" sz="3000" dirty="0"/>
          </a:p>
        </p:txBody>
      </p:sp>
      <p:sp>
        <p:nvSpPr>
          <p:cNvPr id="3" name="Marco Formulario con errores"/>
          <p:cNvSpPr/>
          <p:nvPr/>
        </p:nvSpPr>
        <p:spPr>
          <a:xfrm>
            <a:off x="512064" y="1289304"/>
            <a:ext cx="4645152" cy="4105656"/>
          </a:xfrm>
          <a:prstGeom prst="rect">
            <a:avLst/>
          </a:prstGeom>
          <a:solidFill>
            <a:schemeClr val="bg1"/>
          </a:solidFill>
          <a:ln w="12700">
            <a:solidFill>
              <a:srgbClr val="FBE9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Formulario con errores" descr="Formulario con err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572000" cy="4032504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5669280" y="14813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signia texto 1"/>
          <p:cNvSpPr txBox="1"/>
          <p:nvPr/>
        </p:nvSpPr>
        <p:spPr>
          <a:xfrm>
            <a:off x="56692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Fila 1"/>
          <p:cNvSpPr txBox="1"/>
          <p:nvPr/>
        </p:nvSpPr>
        <p:spPr>
          <a:xfrm>
            <a:off x="6355080" y="146304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Validar y sanear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Recorta espacios, código en mayúsculas, quita etiquetas HTML y acepta «1.250,50».</a:t>
            </a:r>
            <a:endParaRPr lang="en-US" sz="1500" dirty="0"/>
          </a:p>
        </p:txBody>
      </p:sp>
      <p:sp>
        <p:nvSpPr>
          <p:cNvPr id="8" name="Insignia 2"/>
          <p:cNvSpPr/>
          <p:nvPr/>
        </p:nvSpPr>
        <p:spPr>
          <a:xfrm>
            <a:off x="5669280" y="27614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Insignia texto 2"/>
          <p:cNvSpPr txBox="1"/>
          <p:nvPr/>
        </p:nvSpPr>
        <p:spPr>
          <a:xfrm>
            <a:off x="56692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Fila 2"/>
          <p:cNvSpPr txBox="1"/>
          <p:nvPr/>
        </p:nvSpPr>
        <p:spPr>
          <a:xfrm>
            <a:off x="6355080" y="274320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Respuesta 422 con mensajes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Conserva lo escrito y muestra el error junto a cada campo.</a:t>
            </a:r>
            <a:endParaRPr lang="en-US" sz="1500" dirty="0"/>
          </a:p>
        </p:txBody>
      </p:sp>
      <p:sp>
        <p:nvSpPr>
          <p:cNvPr id="11" name="Insignia 3"/>
          <p:cNvSpPr/>
          <p:nvPr/>
        </p:nvSpPr>
        <p:spPr>
          <a:xfrm>
            <a:off x="5669280" y="4041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Insignia texto 3"/>
          <p:cNvSpPr txBox="1"/>
          <p:nvPr/>
        </p:nvSpPr>
        <p:spPr>
          <a:xfrm>
            <a:off x="566928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Fila 3"/>
          <p:cNvSpPr txBox="1"/>
          <p:nvPr/>
        </p:nvSpPr>
        <p:spPr>
          <a:xfrm>
            <a:off x="6355080" y="4023360"/>
            <a:ext cx="5285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Accesible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Cada mensaje está enlazado al campo con aria-describedby.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Seguridad: fotos y formularios</a:t>
            </a:r>
            <a:endParaRPr lang="en-US" sz="3000" dirty="0"/>
          </a:p>
        </p:txBody>
      </p:sp>
      <p:sp>
        <p:nvSpPr>
          <p:cNvPr id="3" name="Seguridad 1 (fondo)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Seguridad 1 (título)"/>
          <p:cNvSpPr txBox="1"/>
          <p:nvPr/>
        </p:nvSpPr>
        <p:spPr>
          <a:xfrm>
            <a:off x="77724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real</a:t>
            </a:r>
            <a:endParaRPr lang="en-US" sz="2000" dirty="0"/>
          </a:p>
        </p:txBody>
      </p:sp>
      <p:sp>
        <p:nvSpPr>
          <p:cNvPr id="5" name="Seguridad 1 (texto)"/>
          <p:cNvSpPr txBox="1"/>
          <p:nvPr/>
        </p:nvSpPr>
        <p:spPr>
          <a:xfrm>
            <a:off x="777240" y="2011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finfo y getimagesize(): un PHP disfrazado de JPG se rechaza.</a:t>
            </a:r>
            <a:endParaRPr lang="en-US" sz="1700" dirty="0"/>
          </a:p>
        </p:txBody>
      </p:sp>
      <p:sp>
        <p:nvSpPr>
          <p:cNvPr id="6" name="Seguridad 2 (fondo)"/>
          <p:cNvSpPr/>
          <p:nvPr/>
        </p:nvSpPr>
        <p:spPr>
          <a:xfrm>
            <a:off x="4325112" y="137160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Seguridad 2 (título)"/>
          <p:cNvSpPr txBox="1"/>
          <p:nvPr/>
        </p:nvSpPr>
        <p:spPr>
          <a:xfrm>
            <a:off x="4553712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MB máximo</a:t>
            </a:r>
            <a:endParaRPr lang="en-US" sz="2000" dirty="0"/>
          </a:p>
        </p:txBody>
      </p:sp>
      <p:sp>
        <p:nvSpPr>
          <p:cNvPr id="8" name="Seguridad 2 (texto)"/>
          <p:cNvSpPr txBox="1"/>
          <p:nvPr/>
        </p:nvSpPr>
        <p:spPr>
          <a:xfrm>
            <a:off x="4553712" y="2011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Los archivos más grandes no se guardan.</a:t>
            </a:r>
            <a:endParaRPr lang="en-US" sz="1700" dirty="0"/>
          </a:p>
        </p:txBody>
      </p:sp>
      <p:sp>
        <p:nvSpPr>
          <p:cNvPr id="9" name="Seguridad 3 (fondo)"/>
          <p:cNvSpPr/>
          <p:nvPr/>
        </p:nvSpPr>
        <p:spPr>
          <a:xfrm>
            <a:off x="8101584" y="137160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Seguridad 3 (título)"/>
          <p:cNvSpPr txBox="1"/>
          <p:nvPr/>
        </p:nvSpPr>
        <p:spPr>
          <a:xfrm>
            <a:off x="8330184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 aleatorio</a:t>
            </a:r>
            <a:endParaRPr lang="en-US" sz="2000" dirty="0"/>
          </a:p>
        </p:txBody>
      </p:sp>
      <p:sp>
        <p:nvSpPr>
          <p:cNvPr id="11" name="Seguridad 3 (texto)"/>
          <p:cNvSpPr txBox="1"/>
          <p:nvPr/>
        </p:nvSpPr>
        <p:spPr>
          <a:xfrm>
            <a:off x="8330184" y="2011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24 caracteres con random_bytes(), fuera de public/.</a:t>
            </a:r>
            <a:endParaRPr lang="en-US" sz="1700" dirty="0"/>
          </a:p>
        </p:txBody>
      </p:sp>
      <p:sp>
        <p:nvSpPr>
          <p:cNvPr id="12" name="Seguridad 4 (fondo)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Seguridad 4 (título)"/>
          <p:cNvSpPr txBox="1"/>
          <p:nvPr/>
        </p:nvSpPr>
        <p:spPr>
          <a:xfrm>
            <a:off x="777240" y="3913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CSRF</a:t>
            </a:r>
            <a:endParaRPr lang="en-US" sz="2000" dirty="0"/>
          </a:p>
        </p:txBody>
      </p:sp>
      <p:sp>
        <p:nvSpPr>
          <p:cNvPr id="14" name="Seguridad 4 (texto)"/>
          <p:cNvSpPr txBox="1"/>
          <p:nvPr/>
        </p:nvSpPr>
        <p:spPr>
          <a:xfrm>
            <a:off x="777240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64 caracteres por sesión, comparado con hash_equals().</a:t>
            </a:r>
            <a:endParaRPr lang="en-US" sz="1700" dirty="0"/>
          </a:p>
        </p:txBody>
      </p:sp>
      <p:sp>
        <p:nvSpPr>
          <p:cNvPr id="15" name="Seguridad 5 (fondo)"/>
          <p:cNvSpPr/>
          <p:nvPr/>
        </p:nvSpPr>
        <p:spPr>
          <a:xfrm>
            <a:off x="4325112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Seguridad 5 (título)"/>
          <p:cNvSpPr txBox="1"/>
          <p:nvPr/>
        </p:nvSpPr>
        <p:spPr>
          <a:xfrm>
            <a:off x="4553712" y="3913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solo por POST</a:t>
            </a:r>
            <a:endParaRPr lang="en-US" sz="2000" dirty="0"/>
          </a:p>
        </p:txBody>
      </p:sp>
      <p:sp>
        <p:nvSpPr>
          <p:cNvPr id="17" name="Seguridad 5 (texto)"/>
          <p:cNvSpPr txBox="1"/>
          <p:nvPr/>
        </p:nvSpPr>
        <p:spPr>
          <a:xfrm>
            <a:off x="4553712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GET responde 405 con Allow: POST.</a:t>
            </a:r>
            <a:endParaRPr lang="en-US" sz="1700" dirty="0"/>
          </a:p>
        </p:txBody>
      </p:sp>
      <p:sp>
        <p:nvSpPr>
          <p:cNvPr id="18" name="Seguridad 6 (fondo)"/>
          <p:cNvSpPr/>
          <p:nvPr/>
        </p:nvSpPr>
        <p:spPr>
          <a:xfrm>
            <a:off x="8101584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Seguridad 6 (título)"/>
          <p:cNvSpPr txBox="1"/>
          <p:nvPr/>
        </p:nvSpPr>
        <p:spPr>
          <a:xfrm>
            <a:off x="8330184" y="3913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fotos huérfanas</a:t>
            </a:r>
            <a:endParaRPr lang="en-US" sz="2000" dirty="0"/>
          </a:p>
        </p:txBody>
      </p:sp>
      <p:sp>
        <p:nvSpPr>
          <p:cNvPr id="20" name="Seguridad 6 (texto)"/>
          <p:cNvSpPr txBox="1"/>
          <p:nvPr/>
        </p:nvSpPr>
        <p:spPr>
          <a:xfrm>
            <a:off x="8330184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 otro campo falla, la foto recién subida se borra.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33 de 33 pruebas y un inventario verificado a mano</a:t>
            </a:r>
            <a:endParaRPr lang="en-US" sz="3000" dirty="0"/>
          </a:p>
        </p:txBody>
      </p:sp>
      <p:graphicFrame>
        <p:nvGraphicFramePr>
          <p:cNvPr id="3" name="Gráfico de pruebas" descr=""/>
          <p:cNvGraphicFramePr/>
          <p:nvPr/>
        </p:nvGraphicFramePr>
        <p:xfrm>
          <a:off x="548640" y="128016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ventario (fondo)"/>
          <p:cNvSpPr/>
          <p:nvPr/>
        </p:nvSpPr>
        <p:spPr>
          <a:xfrm>
            <a:off x="7498080" y="1371600"/>
            <a:ext cx="4142232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Valor inventario"/>
          <p:cNvSpPr txBox="1"/>
          <p:nvPr/>
        </p:nvSpPr>
        <p:spPr>
          <a:xfrm>
            <a:off x="772668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12.303,50</a:t>
            </a:r>
            <a:endParaRPr lang="en-US" sz="4000" dirty="0"/>
          </a:p>
        </p:txBody>
      </p:sp>
      <p:sp>
        <p:nvSpPr>
          <p:cNvPr id="6" name="Explicación inventario"/>
          <p:cNvSpPr txBox="1"/>
          <p:nvPr/>
        </p:nvSpPr>
        <p:spPr>
          <a:xfrm>
            <a:off x="7726680" y="26974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Valor del inventario de demostración: 7 prendas, 90 unidades. Calculado a mano y comparado con lo que muestran el código y la página de gestión.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 que nos enseñó trabajar con inteligencia artificial</a:t>
            </a:r>
            <a:endParaRPr lang="en-US" sz="3000" dirty="0"/>
          </a:p>
        </p:txBody>
      </p:sp>
      <p:sp>
        <p:nvSpPr>
          <p:cNvPr id="3" name="Introducción IA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IA propone, el equipo decide. Las pruebas detectaron dos errores de la IA antes de la entrega:</a:t>
            </a:r>
            <a:endParaRPr lang="en-US" sz="1800" dirty="0"/>
          </a:p>
        </p:txBody>
      </p:sp>
      <p:sp>
        <p:nvSpPr>
          <p:cNvPr id="4" name="Insignia 1"/>
          <p:cNvSpPr/>
          <p:nvPr/>
        </p:nvSpPr>
        <p:spPr>
          <a:xfrm>
            <a:off x="548640" y="212140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Insignia texto 1"/>
          <p:cNvSpPr txBox="1"/>
          <p:nvPr/>
        </p:nvSpPr>
        <p:spPr>
          <a:xfrm>
            <a:off x="54864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Fila 1"/>
          <p:cNvSpPr txBox="1"/>
          <p:nvPr/>
        </p:nvSpPr>
        <p:spPr>
          <a:xfrm>
            <a:off x="1234440" y="21031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Valor esperado del inventario mal calculado (dos veces)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Escribió Bs 10.983,50 y Bs 14.163,50; recalculamos a mano: Bs 12.303,50 y Bs 14.042,90.</a:t>
            </a:r>
            <a:endParaRPr lang="en-US" sz="1700" dirty="0"/>
          </a:p>
        </p:txBody>
      </p:sp>
      <p:sp>
        <p:nvSpPr>
          <p:cNvPr id="7" name="Insignia 2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Insignia texto 2"/>
          <p:cNvSpPr txBox="1"/>
          <p:nvPr/>
        </p:nvSpPr>
        <p:spPr>
          <a:xfrm>
            <a:off x="5486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Fila 2"/>
          <p:cNvSpPr txBox="1"/>
          <p:nvPr/>
        </p:nvSpPr>
        <p:spPr>
          <a:xfrm>
            <a:off x="1234440" y="329184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«1.250» se guardaba como Bs 1,25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El punto de miles boliviano se leía como decimal. Agregamos una prueba y lo corregimos.</a:t>
            </a:r>
            <a:endParaRPr lang="en-US" sz="1700" dirty="0"/>
          </a:p>
        </p:txBody>
      </p:sp>
      <p:sp>
        <p:nvSpPr>
          <p:cNvPr id="10" name="Insignia 3"/>
          <p:cNvSpPr/>
          <p:nvPr/>
        </p:nvSpPr>
        <p:spPr>
          <a:xfrm>
            <a:off x="548640" y="44988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Insignia texto 3"/>
          <p:cNvSpPr txBox="1"/>
          <p:nvPr/>
        </p:nvSpPr>
        <p:spPr>
          <a:xfrm>
            <a:off x="54864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Fila 3"/>
          <p:cNvSpPr txBox="1"/>
          <p:nvPr/>
        </p:nvSpPr>
        <p:spPr>
          <a:xfrm>
            <a:off x="1234440" y="448056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Lección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Los valores de los reportes se verifican a mano contra los datos; no se aceptan sin revisión.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Conclusiones y próximos pasos</a:t>
            </a:r>
            <a:endParaRPr lang="en-US" sz="3200" dirty="0"/>
          </a:p>
        </p:txBody>
      </p:sp>
      <p:sp>
        <p:nvSpPr>
          <p:cNvPr id="3" name="Conclusiones"/>
          <p:cNvSpPr txBox="1"/>
          <p:nvPr/>
        </p:nvSpPr>
        <p:spPr>
          <a:xfrm>
            <a:off x="548640" y="155448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Catálogo en PHP 8.4 con tipado estricto y POO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Formularios validados, CSRF y fotos seguras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Persistencia en JSON concentrada en una clase</a:t>
            </a:r>
            <a:endParaRPr lang="en-US" sz="2100" dirty="0"/>
          </a:p>
          <a:p>
            <a:pPr marL="342900" indent="-342900"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33 de 33 pruebas automáticas</a:t>
            </a:r>
            <a:endParaRPr lang="en-US" sz="2100" dirty="0"/>
          </a:p>
        </p:txBody>
      </p:sp>
      <p:sp>
        <p:nvSpPr>
          <p:cNvPr id="4" name="Próximos pasos (fondo)"/>
          <p:cNvSpPr/>
          <p:nvPr/>
        </p:nvSpPr>
        <p:spPr>
          <a:xfrm>
            <a:off x="6812280" y="1463040"/>
            <a:ext cx="4828032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sp>
        <p:nvSpPr>
          <p:cNvPr id="5" name="Próximos pasos"/>
          <p:cNvSpPr txBox="1"/>
          <p:nvPr/>
        </p:nvSpPr>
        <p:spPr>
          <a:xfrm>
            <a:off x="708660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Próximos pasos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Actividad 2: migrar a MySQL con PDO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Actividad 3: usuarios, roles y pedidos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Actividad 4 y final: API REST y hosting</a:t>
            </a:r>
            <a:endParaRPr lang="en-US" sz="1700" dirty="0"/>
          </a:p>
        </p:txBody>
      </p:sp>
      <p:sp>
        <p:nvSpPr>
          <p:cNvPr id="6" name="Enlaces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Repositorio: github.com/TecnologiaWeb2/Tecnologiaweb2   ·   Tablero: github.com/orgs/TecnologiaWeb2/projects/1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os del Oriente">
  <a:themeElements>
    <a:clrScheme name="Manos del Oriente">
      <a:dk1>
        <a:srgbClr val="2B1A12"/>
      </a:dk1>
      <a:lt1>
        <a:srgbClr val="FFFFFF"/>
      </a:lt1>
      <a:dk2>
        <a:srgbClr val="7A2E14"/>
      </a:dk2>
      <a:lt2>
        <a:srgbClr val="FBE9DF"/>
      </a:lt2>
      <a:accent1>
        <a:srgbClr val="7A2E14"/>
      </a:accent1>
      <a:accent2>
        <a:srgbClr val="0F766E"/>
      </a:accent2>
      <a:accent3>
        <a:srgbClr val="C2410C"/>
      </a:accent3>
      <a:accent4>
        <a:srgbClr val="A16207"/>
      </a:accent4>
      <a:accent5>
        <a:srgbClr val="9F1239"/>
      </a:accent5>
      <a:accent6>
        <a:srgbClr val="6B5B53"/>
      </a:accent6>
      <a:hlink>
        <a:srgbClr val="0F766E"/>
      </a:hlink>
      <a:folHlink>
        <a:srgbClr val="7A2E14"/>
      </a:folHlink>
    </a:clrScheme>
    <a:fontScheme name="Manos del Orie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UPDS - Tecnología Web 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1: catálogo en PHP 8 con POO y JSON</dc:title>
  <dc:subject>PptxGenJS Presentation</dc:subject>
  <dc:creator>Equipo Manos del Oriente</dc:creator>
  <cp:lastModifiedBy>Equipo Manos del Oriente</cp:lastModifiedBy>
  <cp:revision>1</cp:revision>
  <dcterms:created xsi:type="dcterms:W3CDTF">2026-10-13T05:54:15Z</dcterms:created>
  <dcterms:modified xsi:type="dcterms:W3CDTF">2026-10-13T05:54:15Z</dcterms:modified>
</cp:coreProperties>
</file>